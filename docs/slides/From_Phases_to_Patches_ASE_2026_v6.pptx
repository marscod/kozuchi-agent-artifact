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99" r:id="rId4"/>
    <p:sldMasterId id="2147483749" r:id="rId5"/>
  </p:sldMasterIdLst>
  <p:notesMasterIdLst>
    <p:notesMasterId r:id="rId51"/>
  </p:notesMasterIdLst>
  <p:handoutMasterIdLst>
    <p:handoutMasterId r:id="rId52"/>
  </p:handoutMasterIdLst>
  <p:sldIdLst>
    <p:sldId id="288" r:id="rId6"/>
    <p:sldId id="289" r:id="rId7"/>
    <p:sldId id="258" r:id="rId8"/>
    <p:sldId id="293" r:id="rId9"/>
    <p:sldId id="294" r:id="rId10"/>
    <p:sldId id="259" r:id="rId11"/>
    <p:sldId id="260" r:id="rId12"/>
    <p:sldId id="257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311" r:id="rId27"/>
    <p:sldId id="274" r:id="rId28"/>
    <p:sldId id="283" r:id="rId29"/>
    <p:sldId id="282" r:id="rId30"/>
    <p:sldId id="285" r:id="rId31"/>
    <p:sldId id="276" r:id="rId32"/>
    <p:sldId id="278" r:id="rId33"/>
    <p:sldId id="279" r:id="rId34"/>
    <p:sldId id="280" r:id="rId35"/>
    <p:sldId id="281" r:id="rId36"/>
    <p:sldId id="284" r:id="rId37"/>
    <p:sldId id="286" r:id="rId38"/>
    <p:sldId id="287" r:id="rId39"/>
    <p:sldId id="296" r:id="rId40"/>
    <p:sldId id="297" r:id="rId41"/>
    <p:sldId id="298" r:id="rId42"/>
    <p:sldId id="300" r:id="rId43"/>
    <p:sldId id="301" r:id="rId44"/>
    <p:sldId id="302" r:id="rId45"/>
    <p:sldId id="304" r:id="rId46"/>
    <p:sldId id="305" r:id="rId47"/>
    <p:sldId id="306" r:id="rId48"/>
    <p:sldId id="308" r:id="rId49"/>
    <p:sldId id="309" r:id="rId50"/>
  </p:sldIdLst>
  <p:sldSz cx="9144000" cy="5143500" type="screen16x9"/>
  <p:notesSz cx="6858000" cy="9144000"/>
  <p:embeddedFontLst>
    <p:embeddedFont>
      <p:font typeface="メイリオ" panose="020B0604030504040204" pitchFamily="34" charset="-128"/>
      <p:regular r:id="rId53"/>
      <p:bold r:id="rId54"/>
      <p:italic r:id="rId55"/>
      <p:boldItalic r:id="rId56"/>
    </p:embeddedFont>
    <p:embeddedFont>
      <p:font typeface="Aptos Mono" panose="020B0009020202020204" pitchFamily="49" charset="0"/>
      <p:regular r:id="rId57"/>
      <p:bold r:id="rId58"/>
      <p:italic r:id="rId59"/>
      <p:boldItalic r:id="rId60"/>
    </p:embeddedFont>
    <p:embeddedFont>
      <p:font typeface="Fujitsu Infinity Pro" charset="0"/>
      <p:regular r:id="rId61"/>
      <p:bold r:id="rId62"/>
      <p:italic r:id="rId63"/>
      <p:boldItalic r:id="rId6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chnology_event" id="{2EC3AC86-680B-4BE3-8104-BD37F014A297}">
          <p14:sldIdLst>
            <p14:sldId id="288"/>
            <p14:sldId id="289"/>
            <p14:sldId id="258"/>
            <p14:sldId id="293"/>
            <p14:sldId id="294"/>
            <p14:sldId id="259"/>
            <p14:sldId id="260"/>
            <p14:sldId id="257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311"/>
            <p14:sldId id="274"/>
            <p14:sldId id="283"/>
            <p14:sldId id="282"/>
            <p14:sldId id="285"/>
            <p14:sldId id="276"/>
            <p14:sldId id="278"/>
            <p14:sldId id="279"/>
            <p14:sldId id="280"/>
            <p14:sldId id="281"/>
            <p14:sldId id="284"/>
            <p14:sldId id="286"/>
            <p14:sldId id="287"/>
            <p14:sldId id="296"/>
            <p14:sldId id="297"/>
            <p14:sldId id="298"/>
            <p14:sldId id="300"/>
            <p14:sldId id="301"/>
            <p14:sldId id="302"/>
            <p14:sldId id="304"/>
            <p14:sldId id="305"/>
            <p14:sldId id="306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7D7"/>
    <a:srgbClr val="262626"/>
    <a:srgbClr val="EA0000"/>
    <a:srgbClr val="000000"/>
    <a:srgbClr val="F9F9F9"/>
    <a:srgbClr val="D9D9D9"/>
    <a:srgbClr val="00E7EF"/>
    <a:srgbClr val="D80084"/>
    <a:srgbClr val="2400B0"/>
    <a:srgbClr val="FFE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92" autoAdjust="0"/>
    <p:restoredTop sz="87300" autoAdjust="0"/>
  </p:normalViewPr>
  <p:slideViewPr>
    <p:cSldViewPr snapToGrid="0" showGuides="1">
      <p:cViewPr varScale="1">
        <p:scale>
          <a:sx n="113" d="100"/>
          <a:sy n="113" d="100"/>
        </p:scale>
        <p:origin x="200" y="48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567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7" d="100"/>
          <a:sy n="87" d="100"/>
        </p:scale>
        <p:origin x="376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font" Target="fonts/font11.fntdata"/><Relationship Id="rId68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font" Target="fonts/font9.fntdata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font" Target="fonts/font7.fntdata"/><Relationship Id="rId67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font" Target="fonts/font5.fnt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handoutMaster" Target="handoutMasters/handoutMaster1.xml"/><Relationship Id="rId60" Type="http://schemas.openxmlformats.org/officeDocument/2006/relationships/font" Target="fonts/font8.fntdata"/><Relationship Id="rId65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E67070D-E6CE-4A9E-9254-5389625677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956407-B788-4BBD-A196-1533303C7CFF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5EF5F90-3233-0A7D-C966-EFA7EBFF77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sz="1000"/>
              <a:t>© 2026 Fujitsu Limited</a:t>
            </a:r>
            <a:endParaRPr kumimoji="1" lang="ja-JP" altLang="en-US" sz="100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9C2DB4D-897E-55C0-BDBA-5723303B47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1DA5D6-E4D1-4C98-903D-6327E2F175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769465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B3356-AAD1-417A-8DA2-E5A57ADD2731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/>
              <a:t>© 2026 Fujitsu Limited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112C0-02DA-4872-AAC4-571E65FAB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876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72B9A-4B04-5A4C-3BA4-6492AE3B2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3A0D0-154C-350F-ED0A-B5F3CD6DB5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D0081-3D85-352E-0FD4-80716E085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F1C6A-8353-C313-831F-95C2716C9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79253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58883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72685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700804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235594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29602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.3_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イメージ画像を表示する場所としてのグレー領域">
            <a:extLst>
              <a:ext uri="{FF2B5EF4-FFF2-40B4-BE49-F238E27FC236}">
                <a16:creationId xmlns:a16="http://schemas.microsoft.com/office/drawing/2014/main" id="{39D0BDFD-0F5C-4BEC-BEB7-1E579AAF37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788" y="0"/>
            <a:ext cx="4578212" cy="5144400"/>
          </a:xfrm>
          <a:prstGeom prst="rect">
            <a:avLst/>
          </a:prstGeom>
          <a:solidFill>
            <a:srgbClr val="D9D9D9"/>
          </a:solidFill>
        </p:spPr>
      </p:pic>
      <p:pic>
        <p:nvPicPr>
          <p:cNvPr id="5" name="Picture 29">
            <a:extLst>
              <a:ext uri="{FF2B5EF4-FFF2-40B4-BE49-F238E27FC236}">
                <a16:creationId xmlns:a16="http://schemas.microsoft.com/office/drawing/2014/main" id="{E846CE5E-EBFC-9895-E002-D487E7880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040" y="-15241"/>
            <a:ext cx="4585050" cy="5158741"/>
          </a:xfrm>
          <a:prstGeom prst="rect">
            <a:avLst/>
          </a:prstGeom>
        </p:spPr>
      </p:pic>
      <p:pic>
        <p:nvPicPr>
          <p:cNvPr id="10" name="Picture 32">
            <a:extLst>
              <a:ext uri="{FF2B5EF4-FFF2-40B4-BE49-F238E27FC236}">
                <a16:creationId xmlns:a16="http://schemas.microsoft.com/office/drawing/2014/main" id="{5A057779-445D-9F28-B8B7-FDE360652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311640" y="816249"/>
            <a:ext cx="4541042" cy="3511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2000" y="1589127"/>
            <a:ext cx="2979751" cy="1093940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 dirty="0"/>
              <a:t>タイトルを</a:t>
            </a:r>
            <a:br>
              <a:rPr lang="en-US" altLang="ja-JP" dirty="0"/>
            </a:br>
            <a:r>
              <a:rPr lang="ja-JP" altLang="en-US" dirty="0"/>
              <a:t>入力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000" y="2876457"/>
            <a:ext cx="2268000" cy="276999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 dirty="0"/>
              <a:t>サブタイトルや説明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ABE316-801B-CF2B-19B0-42DE1CE73B7F}"/>
              </a:ext>
            </a:extLst>
          </p:cNvPr>
          <p:cNvSpPr txBox="1">
            <a:spLocks/>
          </p:cNvSpPr>
          <p:nvPr userDrawn="1"/>
        </p:nvSpPr>
        <p:spPr>
          <a:xfrm>
            <a:off x="4962529" y="4853813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latin typeface="+mn-lt"/>
              </a:rPr>
              <a:t>© 2026 Fujitsu Limited</a:t>
            </a:r>
            <a:endParaRPr lang="en-GB" dirty="0">
              <a:latin typeface="+mn-lt"/>
            </a:endParaRPr>
          </a:p>
        </p:txBody>
      </p:sp>
      <p:pic>
        <p:nvPicPr>
          <p:cNvPr id="6" name="Graphic 2" descr="Fujitsuシンボルマーク">
            <a:extLst>
              <a:ext uri="{FF2B5EF4-FFF2-40B4-BE49-F238E27FC236}">
                <a16:creationId xmlns:a16="http://schemas.microsoft.com/office/drawing/2014/main" id="{BD271308-692F-92A0-C61E-D250B0FDD8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pic>
        <p:nvPicPr>
          <p:cNvPr id="8" name="Picture 23" descr="Fujitsu RGB カラーパレットの画像">
            <a:extLst>
              <a:ext uri="{FF2B5EF4-FFF2-40B4-BE49-F238E27FC236}">
                <a16:creationId xmlns:a16="http://schemas.microsoft.com/office/drawing/2014/main" id="{8B910508-8B24-0FB5-5AEA-01624CF03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9264043" y="-14287"/>
            <a:ext cx="670272" cy="3374707"/>
          </a:xfrm>
          <a:prstGeom prst="rect">
            <a:avLst/>
          </a:prstGeom>
        </p:spPr>
      </p:pic>
      <p:sp>
        <p:nvSpPr>
          <p:cNvPr id="12" name="SD_TXT_FUJITSU-PUBLIC(HIDDEN)" hidden="1">
            <a:extLst>
              <a:ext uri="{FF2B5EF4-FFF2-40B4-BE49-F238E27FC236}">
                <a16:creationId xmlns:a16="http://schemas.microsoft.com/office/drawing/2014/main" id="{E44B0DA8-3B6C-2F7E-5D71-CBA9766372AE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FFFFFF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FFFFFF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FFFFFF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841076"/>
      </p:ext>
    </p:extLst>
  </p:cSld>
  <p:clrMapOvr>
    <a:masterClrMapping/>
  </p:clrMapOvr>
  <p:transition spd="slow">
    <p:fade/>
  </p:transition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3_Cov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F151A3-079E-4CEC-B057-AA32714CB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568439" cy="51444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Fujitsu Infinity Pro" pitchFamily="2" charset="0"/>
            </a:endParaRPr>
          </a:p>
        </p:txBody>
      </p:sp>
      <p:pic>
        <p:nvPicPr>
          <p:cNvPr id="8" name="Picture 26">
            <a:extLst>
              <a:ext uri="{FF2B5EF4-FFF2-40B4-BE49-F238E27FC236}">
                <a16:creationId xmlns:a16="http://schemas.microsoft.com/office/drawing/2014/main" id="{1B9DBAC3-F0E8-A76B-1B9C-C09BCFD9B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568439" y="-22321"/>
            <a:ext cx="2586552" cy="5165821"/>
          </a:xfrm>
          <a:prstGeom prst="rect">
            <a:avLst/>
          </a:prstGeom>
        </p:spPr>
      </p:pic>
      <p:pic>
        <p:nvPicPr>
          <p:cNvPr id="9" name="Picture 28">
            <a:extLst>
              <a:ext uri="{FF2B5EF4-FFF2-40B4-BE49-F238E27FC236}">
                <a16:creationId xmlns:a16="http://schemas.microsoft.com/office/drawing/2014/main" id="{BBA8E698-D2F0-ABA0-1380-565404357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10377" y="815407"/>
            <a:ext cx="4543220" cy="35126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2000" y="2081570"/>
            <a:ext cx="4602811" cy="60149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ja-JP" altLang="en-US" dirty="0"/>
              <a:t>タイトルを入力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000" y="2876457"/>
            <a:ext cx="4396409" cy="276999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 dirty="0"/>
              <a:t>サブタイトルや説明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679EAAF-4BD8-90D9-1E44-5A12A9433DEF}"/>
              </a:ext>
            </a:extLst>
          </p:cNvPr>
          <p:cNvSpPr txBox="1">
            <a:spLocks/>
          </p:cNvSpPr>
          <p:nvPr userDrawn="1"/>
        </p:nvSpPr>
        <p:spPr>
          <a:xfrm>
            <a:off x="4962529" y="4853813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Graphic 2" descr="Fujitsuシンボルマーク">
            <a:extLst>
              <a:ext uri="{FF2B5EF4-FFF2-40B4-BE49-F238E27FC236}">
                <a16:creationId xmlns:a16="http://schemas.microsoft.com/office/drawing/2014/main" id="{234F68EB-A67F-A614-2E8E-4EEB260718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11" name="SD_TXT_FUJITSU-PUBLIC(HIDDEN)" hidden="1">
            <a:extLst>
              <a:ext uri="{FF2B5EF4-FFF2-40B4-BE49-F238E27FC236}">
                <a16:creationId xmlns:a16="http://schemas.microsoft.com/office/drawing/2014/main" id="{B201DA00-34E2-5B6F-3997-0AC8AE90E8AD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000000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000000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59166"/>
      </p:ext>
    </p:extLst>
  </p:cSld>
  <p:clrMapOvr>
    <a:masterClrMapping/>
  </p:clrMapOvr>
  <p:transition spd="slow">
    <p:fade/>
  </p:transition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3_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E61CFF-6C9A-5F97-0AE3-3D6010E2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2000" y="2081570"/>
            <a:ext cx="6120000" cy="60149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 dirty="0"/>
              <a:t>セクション </a:t>
            </a:r>
            <a:r>
              <a:rPr lang="en-US" altLang="ja-JP" dirty="0"/>
              <a:t>–</a:t>
            </a:r>
            <a:r>
              <a:rPr lang="ja-JP" altLang="en-US" dirty="0"/>
              <a:t> オプション </a:t>
            </a:r>
            <a:r>
              <a:rPr lang="en-US" altLang="ja-JP" dirty="0"/>
              <a:t>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000" y="2876457"/>
            <a:ext cx="6120000" cy="276999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 dirty="0"/>
              <a:t>サブタイトルや説明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C550E33-56EB-1251-E75A-15F6D087D8E4}"/>
              </a:ext>
            </a:extLst>
          </p:cNvPr>
          <p:cNvSpPr txBox="1">
            <a:spLocks/>
          </p:cNvSpPr>
          <p:nvPr userDrawn="1"/>
        </p:nvSpPr>
        <p:spPr>
          <a:xfrm>
            <a:off x="4222750" y="4845600"/>
            <a:ext cx="6985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3CEB6E-2772-4459-8ED3-FE3AA73F9895}" type="slidenum">
              <a:rPr lang="en-GB" smtClean="0">
                <a:solidFill>
                  <a:schemeClr val="bg1"/>
                </a:solidFill>
                <a:latin typeface="+mn-lt"/>
              </a:rPr>
              <a:t>‹#›</a:t>
            </a:fld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F825E6-F0D0-9FD1-CB83-E965912C4B57}"/>
              </a:ext>
            </a:extLst>
          </p:cNvPr>
          <p:cNvSpPr txBox="1">
            <a:spLocks/>
          </p:cNvSpPr>
          <p:nvPr userDrawn="1"/>
        </p:nvSpPr>
        <p:spPr>
          <a:xfrm>
            <a:off x="4962529" y="4852800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Graphic 2" descr="Fujitsuシンボルマーク">
            <a:extLst>
              <a:ext uri="{FF2B5EF4-FFF2-40B4-BE49-F238E27FC236}">
                <a16:creationId xmlns:a16="http://schemas.microsoft.com/office/drawing/2014/main" id="{B5C12ACB-D0AA-6B08-44D4-F155DC3AD1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10" name="SD_TXT_FUJITSU-PUBLIC(HIDDEN)" hidden="1">
            <a:extLst>
              <a:ext uri="{FF2B5EF4-FFF2-40B4-BE49-F238E27FC236}">
                <a16:creationId xmlns:a16="http://schemas.microsoft.com/office/drawing/2014/main" id="{22362E37-ED78-C361-5AFB-F2A928427478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FFFFFF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FFFFFF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FFFFFF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798775"/>
      </p:ext>
    </p:extLst>
  </p:cSld>
  <p:clrMapOvr>
    <a:masterClrMapping/>
  </p:clrMapOvr>
  <p:transition spd="slow">
    <p:fade/>
  </p:transition>
  <p:hf sldNum="0"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3_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E054A5-628E-308E-A51F-152ACE053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2000" y="2081570"/>
            <a:ext cx="6120000" cy="60149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 dirty="0"/>
              <a:t>セクション </a:t>
            </a:r>
            <a:r>
              <a:rPr lang="en-US" altLang="ja-JP" dirty="0"/>
              <a:t>–</a:t>
            </a:r>
            <a:r>
              <a:rPr lang="ja-JP" altLang="en-US" dirty="0"/>
              <a:t> オプション </a:t>
            </a:r>
            <a:r>
              <a:rPr lang="en-US" altLang="ja-JP" dirty="0"/>
              <a:t>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000" y="2876457"/>
            <a:ext cx="6120000" cy="276999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 dirty="0"/>
              <a:t>サブタイトルや説明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C550E33-56EB-1251-E75A-15F6D087D8E4}"/>
              </a:ext>
            </a:extLst>
          </p:cNvPr>
          <p:cNvSpPr txBox="1">
            <a:spLocks/>
          </p:cNvSpPr>
          <p:nvPr userDrawn="1"/>
        </p:nvSpPr>
        <p:spPr>
          <a:xfrm>
            <a:off x="4222750" y="4845600"/>
            <a:ext cx="6985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8D467D-F2CF-419A-93EB-4D9A66B921C6}" type="slidenum">
              <a:rPr lang="en-GB" smtClean="0">
                <a:solidFill>
                  <a:schemeClr val="bg1"/>
                </a:solidFill>
                <a:latin typeface="+mn-lt"/>
              </a:rPr>
              <a:t>‹#›</a:t>
            </a:fld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F825E6-F0D0-9FD1-CB83-E965912C4B57}"/>
              </a:ext>
            </a:extLst>
          </p:cNvPr>
          <p:cNvSpPr txBox="1">
            <a:spLocks/>
          </p:cNvSpPr>
          <p:nvPr userDrawn="1"/>
        </p:nvSpPr>
        <p:spPr>
          <a:xfrm>
            <a:off x="4962529" y="4852800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Graphic 2" descr="Fujitsuシンボルマーク">
            <a:extLst>
              <a:ext uri="{FF2B5EF4-FFF2-40B4-BE49-F238E27FC236}">
                <a16:creationId xmlns:a16="http://schemas.microsoft.com/office/drawing/2014/main" id="{B5C12ACB-D0AA-6B08-44D4-F155DC3AD1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10" name="SD_TXT_FUJITSU-PUBLIC(HIDDEN)" hidden="1">
            <a:extLst>
              <a:ext uri="{FF2B5EF4-FFF2-40B4-BE49-F238E27FC236}">
                <a16:creationId xmlns:a16="http://schemas.microsoft.com/office/drawing/2014/main" id="{830437C2-C372-3015-470C-597541DB9D75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FFFFFF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FFFFFF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FFFFFF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38753"/>
      </p:ext>
    </p:extLst>
  </p:cSld>
  <p:clrMapOvr>
    <a:masterClrMapping/>
  </p:clrMapOvr>
  <p:transition spd="slow">
    <p:fade/>
  </p:transition>
  <p:hf sldNum="0"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.3_Section divider 3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14">
            <a:extLst>
              <a:ext uri="{FF2B5EF4-FFF2-40B4-BE49-F238E27FC236}">
                <a16:creationId xmlns:a16="http://schemas.microsoft.com/office/drawing/2014/main" id="{77902DA3-A8BC-C5DF-0DF2-CFC2019F3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6602404" y="0"/>
            <a:ext cx="2541596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2000" y="2081570"/>
            <a:ext cx="6157292" cy="60149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2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セクション</a:t>
            </a:r>
            <a:r>
              <a:rPr lang="en-US" dirty="0"/>
              <a:t> – </a:t>
            </a:r>
            <a:r>
              <a:rPr lang="ja-JP" altLang="en-US" dirty="0"/>
              <a:t>オプション</a:t>
            </a:r>
            <a:r>
              <a:rPr lang="en-US" dirty="0"/>
              <a:t>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000" y="2876457"/>
            <a:ext cx="6141390" cy="276999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 dirty="0"/>
              <a:t>サブタイトルや説明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84E2E2E-9630-1708-2619-AB443FD92B99}"/>
              </a:ext>
            </a:extLst>
          </p:cNvPr>
          <p:cNvSpPr txBox="1">
            <a:spLocks/>
          </p:cNvSpPr>
          <p:nvPr userDrawn="1"/>
        </p:nvSpPr>
        <p:spPr>
          <a:xfrm>
            <a:off x="4222750" y="4845600"/>
            <a:ext cx="6985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192822-5C62-40FC-A93C-540241614D4B}" type="slidenum">
              <a:rPr lang="en-GB" smtClean="0">
                <a:solidFill>
                  <a:schemeClr val="tx1"/>
                </a:solidFill>
                <a:latin typeface="+mn-lt"/>
              </a:rPr>
              <a:t>‹#›</a:t>
            </a:fld>
            <a:endParaRPr lang="en-GB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205C90D-142F-53A1-FF1E-4AFC7AD7FF23}"/>
              </a:ext>
            </a:extLst>
          </p:cNvPr>
          <p:cNvSpPr txBox="1">
            <a:spLocks/>
          </p:cNvSpPr>
          <p:nvPr userDrawn="1"/>
        </p:nvSpPr>
        <p:spPr>
          <a:xfrm>
            <a:off x="4962529" y="4852800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Graphic 2" descr="Fujitsuシンボルマーク">
            <a:extLst>
              <a:ext uri="{FF2B5EF4-FFF2-40B4-BE49-F238E27FC236}">
                <a16:creationId xmlns:a16="http://schemas.microsoft.com/office/drawing/2014/main" id="{DC34A563-EB5B-BF8C-D8BB-4AB23F1C03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pic>
        <p:nvPicPr>
          <p:cNvPr id="12" name="Picture 23" descr="Fujitsu RGB カラーパレットの画像">
            <a:extLst>
              <a:ext uri="{FF2B5EF4-FFF2-40B4-BE49-F238E27FC236}">
                <a16:creationId xmlns:a16="http://schemas.microsoft.com/office/drawing/2014/main" id="{F444A061-DCF9-6B19-4189-ADF355B60E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9264043" y="-14287"/>
            <a:ext cx="670272" cy="3374707"/>
          </a:xfrm>
          <a:prstGeom prst="rect">
            <a:avLst/>
          </a:prstGeom>
        </p:spPr>
      </p:pic>
      <p:sp>
        <p:nvSpPr>
          <p:cNvPr id="10" name="SD_TXT_FUJITSU-PUBLIC(HIDDEN)" hidden="1">
            <a:extLst>
              <a:ext uri="{FF2B5EF4-FFF2-40B4-BE49-F238E27FC236}">
                <a16:creationId xmlns:a16="http://schemas.microsoft.com/office/drawing/2014/main" id="{7D7E9157-1272-BDB7-C34E-86B6AA76CB71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000000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000000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787796"/>
      </p:ext>
    </p:extLst>
  </p:cSld>
  <p:clrMapOvr>
    <a:masterClrMapping/>
  </p:clrMapOvr>
  <p:transition spd="slow">
    <p:fade/>
  </p:transition>
  <p:hf sldNum="0"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_Bullets 1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BBFEBCE5-8085-D370-E7E2-EFC5D8DA8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600" y="0"/>
            <a:ext cx="9151200" cy="711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29775F-09AF-4C6E-AA1C-E07D6D971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ja-JP" altLang="en-US" dirty="0"/>
              <a:t>マスタータイトルの書式設定</a:t>
            </a:r>
            <a:endParaRPr lang="en-GB" dirty="0"/>
          </a:p>
        </p:txBody>
      </p:sp>
      <p:pic>
        <p:nvPicPr>
          <p:cNvPr id="4" name="Graphic 2" descr="Fujitsuシンボルマーク">
            <a:extLst>
              <a:ext uri="{FF2B5EF4-FFF2-40B4-BE49-F238E27FC236}">
                <a16:creationId xmlns:a16="http://schemas.microsoft.com/office/drawing/2014/main" id="{3F18AE82-2B3D-D5C3-F940-815AD8086D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D85EACC5-7234-667C-C1DE-53E068894A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925200"/>
            <a:ext cx="8641175" cy="2564805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375"/>
              </a:spcBef>
              <a:defRPr>
                <a:latin typeface="+mn-lt"/>
                <a:ea typeface="+mn-ea"/>
              </a:defRPr>
            </a:lvl1pPr>
            <a:lvl2pPr>
              <a:lnSpc>
                <a:spcPct val="100000"/>
              </a:lnSpc>
              <a:spcBef>
                <a:spcPts val="375"/>
              </a:spcBef>
              <a:defRPr>
                <a:latin typeface="+mn-lt"/>
                <a:ea typeface="+mn-ea"/>
              </a:defRPr>
            </a:lvl2pPr>
            <a:lvl3pPr>
              <a:lnSpc>
                <a:spcPct val="100000"/>
              </a:lnSpc>
              <a:spcBef>
                <a:spcPts val="375"/>
              </a:spcBef>
              <a:defRPr>
                <a:latin typeface="+mn-lt"/>
                <a:ea typeface="+mn-ea"/>
              </a:defRPr>
            </a:lvl3pPr>
            <a:lvl4pPr>
              <a:lnSpc>
                <a:spcPct val="100000"/>
              </a:lnSpc>
              <a:spcBef>
                <a:spcPts val="375"/>
              </a:spcBef>
              <a:defRPr>
                <a:latin typeface="+mn-lt"/>
                <a:ea typeface="+mn-ea"/>
              </a:defRPr>
            </a:lvl4pPr>
            <a:lvl5pPr>
              <a:spcBef>
                <a:spcPts val="375"/>
              </a:spcBef>
              <a:defRPr>
                <a:latin typeface="+mn-lt"/>
                <a:ea typeface="+mn-ea"/>
              </a:defRPr>
            </a:lvl5pPr>
            <a:lvl6pPr>
              <a:spcBef>
                <a:spcPts val="375"/>
              </a:spcBef>
              <a:defRPr>
                <a:latin typeface="+mn-lt"/>
                <a:ea typeface="+mn-ea"/>
              </a:defRPr>
            </a:lvl6pPr>
            <a:lvl7pPr>
              <a:spcBef>
                <a:spcPts val="375"/>
              </a:spcBef>
              <a:defRPr>
                <a:latin typeface="+mn-lt"/>
                <a:ea typeface="+mn-ea"/>
              </a:defRPr>
            </a:lvl7pPr>
            <a:lvl8pPr>
              <a:spcBef>
                <a:spcPts val="375"/>
              </a:spcBef>
              <a:defRPr>
                <a:latin typeface="+mn-lt"/>
                <a:ea typeface="+mn-ea"/>
              </a:defRPr>
            </a:lvl8pPr>
            <a:lvl9pPr>
              <a:spcBef>
                <a:spcPts val="375"/>
              </a:spcBef>
              <a:defRPr>
                <a:latin typeface="+mn-lt"/>
                <a:ea typeface="+mn-ea"/>
              </a:defRPr>
            </a:lvl9pPr>
          </a:lstStyle>
          <a:p>
            <a:pPr lvl="0"/>
            <a:r>
              <a:rPr lang="ja-JP" altLang="en-US" dirty="0"/>
              <a:t>マスターテキストの書式設定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  <a:p>
            <a:pPr lvl="5"/>
            <a:r>
              <a:rPr lang="ja-JP" altLang="en-US" dirty="0"/>
              <a:t>テキスト</a:t>
            </a:r>
          </a:p>
          <a:p>
            <a:pPr lvl="6"/>
            <a:r>
              <a:rPr lang="ja-JP" altLang="en-US" dirty="0"/>
              <a:t>テキスト</a:t>
            </a:r>
          </a:p>
          <a:p>
            <a:pPr lvl="7"/>
            <a:r>
              <a:rPr lang="ja-JP" altLang="en-US" dirty="0"/>
              <a:t>テキスト</a:t>
            </a:r>
          </a:p>
          <a:p>
            <a:pPr lvl="8"/>
            <a:r>
              <a:rPr lang="ja-JP" altLang="en-US" dirty="0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3878110978"/>
      </p:ext>
    </p:extLst>
  </p:cSld>
  <p:clrMapOvr>
    <a:masterClrMapping/>
  </p:clrMapOvr>
  <p:transition spd="slow">
    <p:fade/>
  </p:transition>
  <p:hf sldNum="0"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_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A2EC7C13-5CED-8BE2-8E62-A9FF5F4141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514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DC4EEF0-E165-41C3-9249-42A8F2445F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2000" y="2160000"/>
            <a:ext cx="3492000" cy="724608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E64533-1942-4007-F37C-7B07DE84F951}"/>
              </a:ext>
            </a:extLst>
          </p:cNvPr>
          <p:cNvSpPr txBox="1">
            <a:spLocks/>
          </p:cNvSpPr>
          <p:nvPr userDrawn="1"/>
        </p:nvSpPr>
        <p:spPr>
          <a:xfrm>
            <a:off x="4962529" y="4853813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Graphic 2" descr="Fujitsuシンボルマーク">
            <a:extLst>
              <a:ext uri="{FF2B5EF4-FFF2-40B4-BE49-F238E27FC236}">
                <a16:creationId xmlns:a16="http://schemas.microsoft.com/office/drawing/2014/main" id="{D814CC64-56D2-094B-ED2B-B354E3FABD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6" name="SD_TXT_FUJITSU-PUBLIC(HIDDEN)" hidden="1">
            <a:extLst>
              <a:ext uri="{FF2B5EF4-FFF2-40B4-BE49-F238E27FC236}">
                <a16:creationId xmlns:a16="http://schemas.microsoft.com/office/drawing/2014/main" id="{DCBD7FA4-D63B-3F57-CF7B-F78E3456B50B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FFFFFF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FFFFFF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FFFFFF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438271"/>
      </p:ext>
    </p:extLst>
  </p:cSld>
  <p:clrMapOvr>
    <a:masterClrMapping/>
  </p:clrMapOvr>
  <p:transition spd="slow">
    <p:fade/>
  </p:transition>
  <p:hf sldNum="0"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4_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925585-C039-E85D-2DD6-996FCA7D0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2000" y="2081570"/>
            <a:ext cx="6120000" cy="60149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ja-JP" altLang="en-US" dirty="0"/>
              <a:t>セクション </a:t>
            </a:r>
            <a:r>
              <a:rPr lang="en-US" altLang="ja-JP" dirty="0"/>
              <a:t>–</a:t>
            </a:r>
            <a:r>
              <a:rPr lang="ja-JP" altLang="en-US" dirty="0"/>
              <a:t> オプション </a:t>
            </a:r>
            <a:r>
              <a:rPr lang="en-US" altLang="ja-JP" dirty="0"/>
              <a:t>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000" y="2876457"/>
            <a:ext cx="6120000" cy="276999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 dirty="0"/>
              <a:t>サブタイトルや説明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C550E33-56EB-1251-E75A-15F6D087D8E4}"/>
              </a:ext>
            </a:extLst>
          </p:cNvPr>
          <p:cNvSpPr txBox="1">
            <a:spLocks/>
          </p:cNvSpPr>
          <p:nvPr userDrawn="1"/>
        </p:nvSpPr>
        <p:spPr>
          <a:xfrm>
            <a:off x="4222750" y="4845600"/>
            <a:ext cx="6985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57E1F4-3AA9-401C-ABE0-9B5AE49D7E2C}" type="slidenum">
              <a:rPr lang="en-GB" smtClean="0">
                <a:solidFill>
                  <a:schemeClr val="tx1"/>
                </a:solidFill>
                <a:latin typeface="+mn-lt"/>
              </a:rPr>
              <a:t>‹#›</a:t>
            </a:fld>
            <a:endParaRPr lang="en-GB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F825E6-F0D0-9FD1-CB83-E965912C4B57}"/>
              </a:ext>
            </a:extLst>
          </p:cNvPr>
          <p:cNvSpPr txBox="1">
            <a:spLocks/>
          </p:cNvSpPr>
          <p:nvPr userDrawn="1"/>
        </p:nvSpPr>
        <p:spPr>
          <a:xfrm>
            <a:off x="4962529" y="4852800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tx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Graphic 2" descr="Fujitsuシンボルマーク">
            <a:extLst>
              <a:ext uri="{FF2B5EF4-FFF2-40B4-BE49-F238E27FC236}">
                <a16:creationId xmlns:a16="http://schemas.microsoft.com/office/drawing/2014/main" id="{B5C12ACB-D0AA-6B08-44D4-F155DC3AD1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10" name="SD_TXT_FUJITSU-PUBLIC(HIDDEN)" hidden="1">
            <a:extLst>
              <a:ext uri="{FF2B5EF4-FFF2-40B4-BE49-F238E27FC236}">
                <a16:creationId xmlns:a16="http://schemas.microsoft.com/office/drawing/2014/main" id="{80637A39-E1CC-0599-835F-D4F2104BC39B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000000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000000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065808"/>
      </p:ext>
    </p:extLst>
  </p:cSld>
  <p:clrMapOvr>
    <a:masterClrMapping/>
  </p:clrMapOvr>
  <p:transition spd="slow">
    <p:fade/>
  </p:transition>
  <p:hf sldNum="0"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4_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0F4B63-2C7C-B9D4-0630-0BE506317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2000" y="2081570"/>
            <a:ext cx="6120000" cy="60149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ja-JP" altLang="en-US" dirty="0"/>
              <a:t>セクション </a:t>
            </a:r>
            <a:r>
              <a:rPr lang="en-US" altLang="ja-JP" dirty="0"/>
              <a:t>–</a:t>
            </a:r>
            <a:r>
              <a:rPr lang="ja-JP" altLang="en-US" dirty="0"/>
              <a:t> オプション </a:t>
            </a:r>
            <a:r>
              <a:rPr lang="en-US" altLang="ja-JP" dirty="0"/>
              <a:t>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000" y="2876457"/>
            <a:ext cx="6120000" cy="276999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 dirty="0"/>
              <a:t>サブタイトルや説明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C550E33-56EB-1251-E75A-15F6D087D8E4}"/>
              </a:ext>
            </a:extLst>
          </p:cNvPr>
          <p:cNvSpPr txBox="1">
            <a:spLocks/>
          </p:cNvSpPr>
          <p:nvPr userDrawn="1"/>
        </p:nvSpPr>
        <p:spPr>
          <a:xfrm>
            <a:off x="4222750" y="4845600"/>
            <a:ext cx="6985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CAA5CB-9ABC-4AE7-AAA5-A648FD5D1333}" type="slidenum">
              <a:rPr lang="en-GB" smtClean="0">
                <a:solidFill>
                  <a:schemeClr val="tx1"/>
                </a:solidFill>
                <a:latin typeface="+mn-lt"/>
              </a:rPr>
              <a:t>‹#›</a:t>
            </a:fld>
            <a:endParaRPr lang="en-GB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F825E6-F0D0-9FD1-CB83-E965912C4B57}"/>
              </a:ext>
            </a:extLst>
          </p:cNvPr>
          <p:cNvSpPr txBox="1">
            <a:spLocks/>
          </p:cNvSpPr>
          <p:nvPr userDrawn="1"/>
        </p:nvSpPr>
        <p:spPr>
          <a:xfrm>
            <a:off x="4962529" y="4852800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tx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Graphic 2" descr="Fujitsuシンボルマーク">
            <a:extLst>
              <a:ext uri="{FF2B5EF4-FFF2-40B4-BE49-F238E27FC236}">
                <a16:creationId xmlns:a16="http://schemas.microsoft.com/office/drawing/2014/main" id="{B5C12ACB-D0AA-6B08-44D4-F155DC3AD1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10" name="SD_TXT_FUJITSU-PUBLIC(HIDDEN)" hidden="1">
            <a:extLst>
              <a:ext uri="{FF2B5EF4-FFF2-40B4-BE49-F238E27FC236}">
                <a16:creationId xmlns:a16="http://schemas.microsoft.com/office/drawing/2014/main" id="{73975572-B2D5-FC94-8724-4277B887AF78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000000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000000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765680"/>
      </p:ext>
    </p:extLst>
  </p:cSld>
  <p:clrMapOvr>
    <a:masterClrMapping/>
  </p:clrMapOvr>
  <p:transition spd="slow">
    <p:fade/>
  </p:transition>
  <p:hf sldNum="0"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.4_Section divider 3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14">
            <a:extLst>
              <a:ext uri="{FF2B5EF4-FFF2-40B4-BE49-F238E27FC236}">
                <a16:creationId xmlns:a16="http://schemas.microsoft.com/office/drawing/2014/main" id="{AF872933-7CA4-6BFC-4BE8-D14EC9FCD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6602404" y="0"/>
            <a:ext cx="2541596" cy="5145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2000" y="2081570"/>
            <a:ext cx="6157292" cy="60149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2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セクション</a:t>
            </a:r>
            <a:r>
              <a:rPr lang="en-US" dirty="0"/>
              <a:t> – </a:t>
            </a:r>
            <a:r>
              <a:rPr lang="ja-JP" altLang="en-US" dirty="0"/>
              <a:t>オプション</a:t>
            </a:r>
            <a:r>
              <a:rPr lang="en-US" dirty="0"/>
              <a:t>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000" y="2876457"/>
            <a:ext cx="6141390" cy="276999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 dirty="0"/>
              <a:t>サブタイトルや説明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84E2E2E-9630-1708-2619-AB443FD92B99}"/>
              </a:ext>
            </a:extLst>
          </p:cNvPr>
          <p:cNvSpPr txBox="1">
            <a:spLocks/>
          </p:cNvSpPr>
          <p:nvPr userDrawn="1"/>
        </p:nvSpPr>
        <p:spPr>
          <a:xfrm>
            <a:off x="4222750" y="4845600"/>
            <a:ext cx="6985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655B2C-74BD-4416-9211-136FD1D1BA04}" type="slidenum">
              <a:rPr lang="en-GB" smtClean="0">
                <a:solidFill>
                  <a:schemeClr val="tx1"/>
                </a:solidFill>
                <a:latin typeface="+mn-lt"/>
              </a:rPr>
              <a:t>‹#›</a:t>
            </a:fld>
            <a:endParaRPr lang="en-GB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205C90D-142F-53A1-FF1E-4AFC7AD7FF23}"/>
              </a:ext>
            </a:extLst>
          </p:cNvPr>
          <p:cNvSpPr txBox="1">
            <a:spLocks/>
          </p:cNvSpPr>
          <p:nvPr userDrawn="1"/>
        </p:nvSpPr>
        <p:spPr>
          <a:xfrm>
            <a:off x="4962529" y="4852800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tx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" name="Graphic 2" descr="Fujitsuシンボルマーク">
            <a:extLst>
              <a:ext uri="{FF2B5EF4-FFF2-40B4-BE49-F238E27FC236}">
                <a16:creationId xmlns:a16="http://schemas.microsoft.com/office/drawing/2014/main" id="{DC34A563-EB5B-BF8C-D8BB-4AB23F1C03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pic>
        <p:nvPicPr>
          <p:cNvPr id="12" name="Picture 23" descr="Fujitsu RGB カラーパレットの画像">
            <a:extLst>
              <a:ext uri="{FF2B5EF4-FFF2-40B4-BE49-F238E27FC236}">
                <a16:creationId xmlns:a16="http://schemas.microsoft.com/office/drawing/2014/main" id="{F444A061-DCF9-6B19-4189-ADF355B60E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9264043" y="-14287"/>
            <a:ext cx="670272" cy="3374707"/>
          </a:xfrm>
          <a:prstGeom prst="rect">
            <a:avLst/>
          </a:prstGeom>
        </p:spPr>
      </p:pic>
      <p:sp>
        <p:nvSpPr>
          <p:cNvPr id="10" name="SD_TXT_FUJITSU-PUBLIC(HIDDEN)" hidden="1">
            <a:extLst>
              <a:ext uri="{FF2B5EF4-FFF2-40B4-BE49-F238E27FC236}">
                <a16:creationId xmlns:a16="http://schemas.microsoft.com/office/drawing/2014/main" id="{0EC6FFFE-3818-4E06-6084-A091F3AB262D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000000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000000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357574"/>
      </p:ext>
    </p:extLst>
  </p:cSld>
  <p:clrMapOvr>
    <a:masterClrMapping/>
  </p:clrMapOvr>
  <p:transition spd="slow">
    <p:fade/>
  </p:transition>
  <p:hf sldNum="0"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_Bullets 1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>
            <a:extLst>
              <a:ext uri="{FF2B5EF4-FFF2-40B4-BE49-F238E27FC236}">
                <a16:creationId xmlns:a16="http://schemas.microsoft.com/office/drawing/2014/main" id="{62757BBE-C9D7-51E2-DE45-B722DB2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-7200" y="0"/>
            <a:ext cx="9158400" cy="7123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29775F-09AF-4C6E-AA1C-E07D6D971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ja-JP" altLang="en-US" dirty="0"/>
              <a:t>マスタータイトルの書式設定</a:t>
            </a:r>
            <a:endParaRPr lang="en-GB" dirty="0"/>
          </a:p>
        </p:txBody>
      </p:sp>
      <p:pic>
        <p:nvPicPr>
          <p:cNvPr id="4" name="Graphic 2" descr="Fujitsuシンボルマーク">
            <a:extLst>
              <a:ext uri="{FF2B5EF4-FFF2-40B4-BE49-F238E27FC236}">
                <a16:creationId xmlns:a16="http://schemas.microsoft.com/office/drawing/2014/main" id="{3F18AE82-2B3D-D5C3-F940-815AD8086D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68C9ADE0-9563-9858-F826-A4AF1D8323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925200"/>
            <a:ext cx="8641175" cy="2564805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375"/>
              </a:spcBef>
              <a:defRPr>
                <a:latin typeface="+mn-lt"/>
                <a:ea typeface="+mn-ea"/>
              </a:defRPr>
            </a:lvl1pPr>
            <a:lvl2pPr>
              <a:lnSpc>
                <a:spcPct val="100000"/>
              </a:lnSpc>
              <a:spcBef>
                <a:spcPts val="375"/>
              </a:spcBef>
              <a:defRPr>
                <a:latin typeface="+mn-lt"/>
                <a:ea typeface="+mn-ea"/>
              </a:defRPr>
            </a:lvl2pPr>
            <a:lvl3pPr>
              <a:lnSpc>
                <a:spcPct val="100000"/>
              </a:lnSpc>
              <a:spcBef>
                <a:spcPts val="375"/>
              </a:spcBef>
              <a:defRPr>
                <a:latin typeface="+mn-lt"/>
                <a:ea typeface="+mn-ea"/>
              </a:defRPr>
            </a:lvl3pPr>
            <a:lvl4pPr>
              <a:lnSpc>
                <a:spcPct val="100000"/>
              </a:lnSpc>
              <a:spcBef>
                <a:spcPts val="375"/>
              </a:spcBef>
              <a:defRPr>
                <a:latin typeface="+mn-lt"/>
                <a:ea typeface="+mn-ea"/>
              </a:defRPr>
            </a:lvl4pPr>
            <a:lvl5pPr>
              <a:spcBef>
                <a:spcPts val="375"/>
              </a:spcBef>
              <a:defRPr>
                <a:latin typeface="+mn-lt"/>
                <a:ea typeface="+mn-ea"/>
              </a:defRPr>
            </a:lvl5pPr>
            <a:lvl6pPr>
              <a:spcBef>
                <a:spcPts val="375"/>
              </a:spcBef>
              <a:defRPr>
                <a:latin typeface="+mn-lt"/>
                <a:ea typeface="+mn-ea"/>
              </a:defRPr>
            </a:lvl6pPr>
            <a:lvl7pPr>
              <a:spcBef>
                <a:spcPts val="375"/>
              </a:spcBef>
              <a:defRPr>
                <a:latin typeface="+mn-lt"/>
                <a:ea typeface="+mn-ea"/>
              </a:defRPr>
            </a:lvl7pPr>
            <a:lvl8pPr>
              <a:spcBef>
                <a:spcPts val="375"/>
              </a:spcBef>
              <a:defRPr>
                <a:latin typeface="+mn-lt"/>
                <a:ea typeface="+mn-ea"/>
              </a:defRPr>
            </a:lvl8pPr>
            <a:lvl9pPr>
              <a:spcBef>
                <a:spcPts val="375"/>
              </a:spcBef>
              <a:defRPr>
                <a:latin typeface="+mn-lt"/>
                <a:ea typeface="+mn-ea"/>
              </a:defRPr>
            </a:lvl9pPr>
          </a:lstStyle>
          <a:p>
            <a:pPr lvl="0"/>
            <a:r>
              <a:rPr lang="ja-JP" altLang="en-US" dirty="0"/>
              <a:t>マスターテキストの書式設定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  <a:p>
            <a:pPr lvl="5"/>
            <a:r>
              <a:rPr lang="ja-JP" altLang="en-US" dirty="0"/>
              <a:t>テキスト</a:t>
            </a:r>
          </a:p>
          <a:p>
            <a:pPr lvl="6"/>
            <a:r>
              <a:rPr lang="ja-JP" altLang="en-US" dirty="0"/>
              <a:t>テキスト</a:t>
            </a:r>
          </a:p>
          <a:p>
            <a:pPr lvl="7"/>
            <a:r>
              <a:rPr lang="ja-JP" altLang="en-US" dirty="0"/>
              <a:t>テキスト</a:t>
            </a:r>
          </a:p>
          <a:p>
            <a:pPr lvl="8"/>
            <a:r>
              <a:rPr lang="ja-JP" altLang="en-US" dirty="0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3967781222"/>
      </p:ext>
    </p:extLst>
  </p:cSld>
  <p:clrMapOvr>
    <a:masterClrMapping/>
  </p:clrMapOvr>
  <p:transition spd="slow">
    <p:fade/>
  </p:transition>
  <p:hf sldNum="0"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1_Custom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>
            <a:extLst>
              <a:ext uri="{FF2B5EF4-FFF2-40B4-BE49-F238E27FC236}">
                <a16:creationId xmlns:a16="http://schemas.microsoft.com/office/drawing/2014/main" id="{E31F228C-4764-6845-E017-C99FF953DE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2000" y="2081570"/>
            <a:ext cx="3600000" cy="60149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 dirty="0"/>
              <a:t>タイトルを入力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000" y="2876457"/>
            <a:ext cx="3240000" cy="276999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 dirty="0"/>
              <a:t>サブタイトルや説明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679EAAF-4BD8-90D9-1E44-5A12A9433DEF}"/>
              </a:ext>
            </a:extLst>
          </p:cNvPr>
          <p:cNvSpPr txBox="1">
            <a:spLocks/>
          </p:cNvSpPr>
          <p:nvPr userDrawn="1"/>
        </p:nvSpPr>
        <p:spPr>
          <a:xfrm>
            <a:off x="4962529" y="4853813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SD_TXT_FUJITSU-PUBLIC(HIDDEN)" hidden="1">
            <a:extLst>
              <a:ext uri="{FF2B5EF4-FFF2-40B4-BE49-F238E27FC236}">
                <a16:creationId xmlns:a16="http://schemas.microsoft.com/office/drawing/2014/main" id="{D05E520E-91C7-86EC-D0ED-296BCA0B3B30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FFFFFF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FFFFFF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FFFFFF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088876"/>
      </p:ext>
    </p:extLst>
  </p:cSld>
  <p:clrMapOvr>
    <a:masterClrMapping/>
  </p:clrMapOvr>
  <p:transition spd="slow">
    <p:fade/>
  </p:transition>
  <p:hf sldNum="0"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Custom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>
            <a:extLst>
              <a:ext uri="{FF2B5EF4-FFF2-40B4-BE49-F238E27FC236}">
                <a16:creationId xmlns:a16="http://schemas.microsoft.com/office/drawing/2014/main" id="{0242BA56-3E87-0653-B826-2FC94CA6E5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2000" y="2081570"/>
            <a:ext cx="3600000" cy="60149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 dirty="0"/>
              <a:t>タイトルを入力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EEB8ABB-62FD-B2B5-A735-B32259E5E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2000" y="2876457"/>
            <a:ext cx="32400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 dirty="0"/>
              <a:t>サブタイトルや説明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679EAAF-4BD8-90D9-1E44-5A12A9433DEF}"/>
              </a:ext>
            </a:extLst>
          </p:cNvPr>
          <p:cNvSpPr txBox="1">
            <a:spLocks/>
          </p:cNvSpPr>
          <p:nvPr userDrawn="1"/>
        </p:nvSpPr>
        <p:spPr>
          <a:xfrm>
            <a:off x="4962529" y="4853813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SD_TXT_FUJITSU-PUBLIC(HIDDEN)" hidden="1">
            <a:extLst>
              <a:ext uri="{FF2B5EF4-FFF2-40B4-BE49-F238E27FC236}">
                <a16:creationId xmlns:a16="http://schemas.microsoft.com/office/drawing/2014/main" id="{2D40336A-2452-40D8-6593-A3392FF1FB03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FFFFFF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FFFFFF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FFFFFF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073417"/>
      </p:ext>
    </p:extLst>
  </p:cSld>
  <p:clrMapOvr>
    <a:masterClrMapping/>
  </p:clrMapOvr>
  <p:transition spd="slow">
    <p:fade/>
  </p:transition>
  <p:hf sldNum="0"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>
            <a:extLst>
              <a:ext uri="{FF2B5EF4-FFF2-40B4-BE49-F238E27FC236}">
                <a16:creationId xmlns:a16="http://schemas.microsoft.com/office/drawing/2014/main" id="{3AC13E48-3364-7E6F-2A10-61ED3F2DF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2000" y="2081570"/>
            <a:ext cx="6157292" cy="60149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 dirty="0"/>
              <a:t>セクション</a:t>
            </a:r>
            <a:r>
              <a:rPr lang="en-US" dirty="0"/>
              <a:t> – </a:t>
            </a:r>
            <a:r>
              <a:rPr lang="ja-JP" altLang="en-US" dirty="0"/>
              <a:t>オプション</a:t>
            </a:r>
            <a:r>
              <a:rPr lang="en-US" dirty="0"/>
              <a:t> 1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E475FF0E-D043-48F6-8008-08B559AC6C64}"/>
              </a:ext>
            </a:extLst>
          </p:cNvPr>
          <p:cNvSpPr txBox="1">
            <a:spLocks/>
          </p:cNvSpPr>
          <p:nvPr userDrawn="1"/>
        </p:nvSpPr>
        <p:spPr>
          <a:xfrm>
            <a:off x="4222750" y="4846119"/>
            <a:ext cx="6985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6BC683-7D4A-4FD7-84A5-13FFB56061E8}" type="slidenum">
              <a:rPr lang="en-GB" smtClean="0">
                <a:solidFill>
                  <a:schemeClr val="bg1"/>
                </a:solidFill>
                <a:latin typeface="+mn-lt"/>
              </a:rPr>
              <a:t>‹#›</a:t>
            </a:fld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CA99B75-5BC1-ECE3-62E4-0C461877B66E}"/>
              </a:ext>
            </a:extLst>
          </p:cNvPr>
          <p:cNvSpPr txBox="1">
            <a:spLocks/>
          </p:cNvSpPr>
          <p:nvPr userDrawn="1"/>
        </p:nvSpPr>
        <p:spPr>
          <a:xfrm>
            <a:off x="4964400" y="4853813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Graphic 2" descr="Fujitsuシンボルマーク">
            <a:extLst>
              <a:ext uri="{FF2B5EF4-FFF2-40B4-BE49-F238E27FC236}">
                <a16:creationId xmlns:a16="http://schemas.microsoft.com/office/drawing/2014/main" id="{07AB0DF8-C067-B12A-F6B7-2D1D291C91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6" name="SD_TXT_FUJITSU-PUBLIC(HIDDEN)" hidden="1">
            <a:extLst>
              <a:ext uri="{FF2B5EF4-FFF2-40B4-BE49-F238E27FC236}">
                <a16:creationId xmlns:a16="http://schemas.microsoft.com/office/drawing/2014/main" id="{6B95E120-E915-DAE8-394C-3E70F699B5CC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FFFFFF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FFFFFF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FFFFFF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042829"/>
      </p:ext>
    </p:extLst>
  </p:cSld>
  <p:clrMapOvr>
    <a:masterClrMapping/>
  </p:clrMapOvr>
  <p:transition spd="slow">
    <p:fade/>
  </p:transition>
  <p:hf sldNum="0"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6B6B87-CF53-4FF5-8465-3F3FCB69B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23"/>
          <a:stretch/>
        </p:blipFill>
        <p:spPr>
          <a:xfrm>
            <a:off x="0" y="0"/>
            <a:ext cx="9144000" cy="51651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2000" y="2081570"/>
            <a:ext cx="6157292" cy="60149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 dirty="0"/>
              <a:t>セクション</a:t>
            </a:r>
            <a:r>
              <a:rPr lang="en-US" dirty="0"/>
              <a:t> – </a:t>
            </a:r>
            <a:r>
              <a:rPr lang="ja-JP" altLang="en-US" dirty="0"/>
              <a:t>オプション</a:t>
            </a:r>
            <a:r>
              <a:rPr lang="en-US" dirty="0"/>
              <a:t> 2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E475FF0E-D043-48F6-8008-08B559AC6C64}"/>
              </a:ext>
            </a:extLst>
          </p:cNvPr>
          <p:cNvSpPr txBox="1">
            <a:spLocks/>
          </p:cNvSpPr>
          <p:nvPr userDrawn="1"/>
        </p:nvSpPr>
        <p:spPr>
          <a:xfrm>
            <a:off x="4222750" y="4846119"/>
            <a:ext cx="6985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A614724-E9C2-41B5-B5AF-265E65C694C5}" type="slidenum">
              <a:rPr lang="en-GB" smtClean="0">
                <a:solidFill>
                  <a:schemeClr val="bg1"/>
                </a:solidFill>
                <a:latin typeface="+mn-lt"/>
              </a:rPr>
              <a:t>‹#›</a:t>
            </a:fld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CA99B75-5BC1-ECE3-62E4-0C461877B66E}"/>
              </a:ext>
            </a:extLst>
          </p:cNvPr>
          <p:cNvSpPr txBox="1">
            <a:spLocks/>
          </p:cNvSpPr>
          <p:nvPr userDrawn="1"/>
        </p:nvSpPr>
        <p:spPr>
          <a:xfrm>
            <a:off x="4964400" y="4853813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Graphic 2" descr="Fujitsuシンボルマーク">
            <a:extLst>
              <a:ext uri="{FF2B5EF4-FFF2-40B4-BE49-F238E27FC236}">
                <a16:creationId xmlns:a16="http://schemas.microsoft.com/office/drawing/2014/main" id="{07AB0DF8-C067-B12A-F6B7-2D1D291C91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8" name="SD_TXT_FUJITSU-PUBLIC(HIDDEN)" hidden="1">
            <a:extLst>
              <a:ext uri="{FF2B5EF4-FFF2-40B4-BE49-F238E27FC236}">
                <a16:creationId xmlns:a16="http://schemas.microsoft.com/office/drawing/2014/main" id="{07C58A0F-DF9B-A1EE-D647-A149D75024C9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FFFFFF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FFFFFF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FFFFFF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193652"/>
      </p:ext>
    </p:extLst>
  </p:cSld>
  <p:clrMapOvr>
    <a:masterClrMapping/>
  </p:clrMapOvr>
  <p:transition spd="slow">
    <p:fade/>
  </p:transition>
  <p:hf sldNum="0"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.1_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14">
            <a:extLst>
              <a:ext uri="{FF2B5EF4-FFF2-40B4-BE49-F238E27FC236}">
                <a16:creationId xmlns:a16="http://schemas.microsoft.com/office/drawing/2014/main" id="{B958090B-86D8-CC6C-6041-C8E2D1BA3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6602404" y="0"/>
            <a:ext cx="2541596" cy="5145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2000" y="2081570"/>
            <a:ext cx="6157292" cy="60149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ja-JP" altLang="en-US" dirty="0"/>
              <a:t>セクション</a:t>
            </a:r>
            <a:r>
              <a:rPr lang="en-US" dirty="0"/>
              <a:t> – </a:t>
            </a:r>
            <a:r>
              <a:rPr lang="ja-JP" altLang="en-US" dirty="0"/>
              <a:t>オプション</a:t>
            </a:r>
            <a:r>
              <a:rPr lang="en-US" dirty="0"/>
              <a:t> 3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E475FF0E-D043-48F6-8008-08B559AC6C64}"/>
              </a:ext>
            </a:extLst>
          </p:cNvPr>
          <p:cNvSpPr txBox="1">
            <a:spLocks/>
          </p:cNvSpPr>
          <p:nvPr userDrawn="1"/>
        </p:nvSpPr>
        <p:spPr>
          <a:xfrm>
            <a:off x="4222750" y="4841886"/>
            <a:ext cx="6985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5ACF51-06CA-4174-8906-A4CD884AD14C}" type="slidenum">
              <a:rPr lang="en-GB" smtClean="0">
                <a:solidFill>
                  <a:schemeClr val="tx1"/>
                </a:solidFill>
                <a:latin typeface="+mn-lt"/>
              </a:rPr>
              <a:t>‹#›</a:t>
            </a:fld>
            <a:endParaRPr lang="en-GB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2055F0D-9E38-5D0D-A983-A047163208A3}"/>
              </a:ext>
            </a:extLst>
          </p:cNvPr>
          <p:cNvSpPr txBox="1">
            <a:spLocks/>
          </p:cNvSpPr>
          <p:nvPr userDrawn="1"/>
        </p:nvSpPr>
        <p:spPr>
          <a:xfrm>
            <a:off x="4962529" y="4852800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6" name="Graphic 2" descr="Fujitsuシンボルマーク">
            <a:extLst>
              <a:ext uri="{FF2B5EF4-FFF2-40B4-BE49-F238E27FC236}">
                <a16:creationId xmlns:a16="http://schemas.microsoft.com/office/drawing/2014/main" id="{AF2D95FF-F410-A38E-F296-1DFC44782E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pic>
        <p:nvPicPr>
          <p:cNvPr id="8" name="Picture 23" descr="Fujitsu RGB カラーパレットの画像">
            <a:extLst>
              <a:ext uri="{FF2B5EF4-FFF2-40B4-BE49-F238E27FC236}">
                <a16:creationId xmlns:a16="http://schemas.microsoft.com/office/drawing/2014/main" id="{3683F048-DC1C-17FE-8B57-B4B97F83A1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9264043" y="-14287"/>
            <a:ext cx="670272" cy="3374707"/>
          </a:xfrm>
          <a:prstGeom prst="rect">
            <a:avLst/>
          </a:prstGeom>
        </p:spPr>
      </p:pic>
      <p:sp>
        <p:nvSpPr>
          <p:cNvPr id="5" name="SD_TXT_FUJITSU-PUBLIC(HIDDEN)" hidden="1">
            <a:extLst>
              <a:ext uri="{FF2B5EF4-FFF2-40B4-BE49-F238E27FC236}">
                <a16:creationId xmlns:a16="http://schemas.microsoft.com/office/drawing/2014/main" id="{F13C2524-58B6-9BEB-1384-63C0763E0E28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000000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000000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712045"/>
      </p:ext>
    </p:extLst>
  </p:cSld>
  <p:clrMapOvr>
    <a:masterClrMapping/>
  </p:clrMapOvr>
  <p:transition spd="slow">
    <p:fade/>
  </p:transition>
  <p:hf sldNum="0"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Bullets 1-col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>
            <a:extLst>
              <a:ext uri="{FF2B5EF4-FFF2-40B4-BE49-F238E27FC236}">
                <a16:creationId xmlns:a16="http://schemas.microsoft.com/office/drawing/2014/main" id="{7584FE3E-597F-BA61-7EB2-8087DB209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Fujitsu Infinity Pro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9775F-09AF-4C6E-AA1C-E07D6D971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00" y="97200"/>
            <a:ext cx="7585765" cy="53994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 dirty="0"/>
              <a:t>マスタータイトルの書式設定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37ACA-9190-76FF-C2C0-FE646AE4D4C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222750" y="4846119"/>
            <a:ext cx="6985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038D1F-838A-4F46-B344-FA546DBF0B14}" type="slidenum">
              <a:rPr lang="en-GB" smtClean="0">
                <a:solidFill>
                  <a:schemeClr val="bg1"/>
                </a:solidFill>
                <a:latin typeface="+mn-lt"/>
              </a:rPr>
              <a:t>‹#›</a:t>
            </a:fld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E1DC0B9-B7EE-82D5-29B8-661838712F59}"/>
              </a:ext>
            </a:extLst>
          </p:cNvPr>
          <p:cNvSpPr txBox="1">
            <a:spLocks/>
          </p:cNvSpPr>
          <p:nvPr userDrawn="1"/>
        </p:nvSpPr>
        <p:spPr>
          <a:xfrm>
            <a:off x="4962529" y="4853813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6" name="Graphic 2" descr="Fujitsuシンボルマーク">
            <a:extLst>
              <a:ext uri="{FF2B5EF4-FFF2-40B4-BE49-F238E27FC236}">
                <a16:creationId xmlns:a16="http://schemas.microsoft.com/office/drawing/2014/main" id="{75548E48-DC2F-FF21-D91A-DC32EB743D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C7A4790-DE6A-6D19-CCCD-F96CCA964F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925200"/>
            <a:ext cx="8640000" cy="25955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375"/>
              </a:spcBef>
              <a:defRPr>
                <a:solidFill>
                  <a:schemeClr val="bg1"/>
                </a:solidFill>
                <a:latin typeface="+mn-lt"/>
              </a:defRPr>
            </a:lvl1pPr>
            <a:lvl2pPr marL="563563" indent="-220663">
              <a:lnSpc>
                <a:spcPct val="100000"/>
              </a:lnSpc>
              <a:spcBef>
                <a:spcPts val="375"/>
              </a:spcBef>
              <a:buClr>
                <a:schemeClr val="bg1"/>
              </a:buClr>
              <a:buSzPct val="120000"/>
              <a:buFont typeface="Arial" panose="020B0604020202020204" pitchFamily="34" charset="0"/>
              <a:buChar char="●"/>
              <a:defRPr sz="1800">
                <a:solidFill>
                  <a:schemeClr val="bg1"/>
                </a:solidFill>
                <a:latin typeface="+mn-lt"/>
              </a:defRPr>
            </a:lvl2pPr>
            <a:lvl3pPr marL="873125" indent="-187325">
              <a:lnSpc>
                <a:spcPct val="100000"/>
              </a:lnSpc>
              <a:spcBef>
                <a:spcPts val="375"/>
              </a:spcBef>
              <a:buClr>
                <a:schemeClr val="bg1"/>
              </a:buClr>
              <a:buSzPct val="120000"/>
              <a:buFont typeface="Arial" panose="020B0604020202020204" pitchFamily="34" charset="0"/>
              <a:buChar char="●"/>
              <a:defRPr sz="1600">
                <a:solidFill>
                  <a:schemeClr val="bg1"/>
                </a:solidFill>
                <a:latin typeface="+mn-lt"/>
              </a:defRPr>
            </a:lvl3pPr>
            <a:lvl4pPr marL="1200150" indent="-171450">
              <a:lnSpc>
                <a:spcPct val="100000"/>
              </a:lnSpc>
              <a:spcBef>
                <a:spcPts val="375"/>
              </a:spcBef>
              <a:buClr>
                <a:schemeClr val="bg1"/>
              </a:buClr>
              <a:buSzPct val="120000"/>
              <a:buFont typeface="Arial" panose="020B0604020202020204" pitchFamily="34" charset="0"/>
              <a:buChar char="●"/>
              <a:defRPr sz="1400">
                <a:solidFill>
                  <a:schemeClr val="bg1"/>
                </a:solidFill>
                <a:latin typeface="+mn-lt"/>
              </a:defRPr>
            </a:lvl4pPr>
            <a:lvl5pPr marL="1543050" indent="-171450">
              <a:lnSpc>
                <a:spcPct val="100000"/>
              </a:lnSpc>
              <a:spcBef>
                <a:spcPts val="375"/>
              </a:spcBef>
              <a:buClr>
                <a:schemeClr val="bg1"/>
              </a:buClr>
              <a:buSzPct val="120000"/>
              <a:buFont typeface="Arial" panose="020B0604020202020204" pitchFamily="34" charset="0"/>
              <a:buChar char="●"/>
              <a:defRPr>
                <a:solidFill>
                  <a:schemeClr val="bg1"/>
                </a:solidFill>
                <a:latin typeface="+mn-lt"/>
              </a:defRPr>
            </a:lvl5pPr>
            <a:lvl6pPr marL="1885950" indent="-171450">
              <a:lnSpc>
                <a:spcPct val="100000"/>
              </a:lnSpc>
              <a:spcBef>
                <a:spcPts val="375"/>
              </a:spcBef>
              <a:buClr>
                <a:schemeClr val="bg1"/>
              </a:buClr>
              <a:buSzPct val="120000"/>
              <a:buFont typeface="Arial" panose="020B0604020202020204" pitchFamily="34" charset="0"/>
              <a:buChar char="●"/>
              <a:defRPr sz="1400">
                <a:solidFill>
                  <a:schemeClr val="bg1"/>
                </a:solidFill>
                <a:latin typeface="+mn-lt"/>
              </a:defRPr>
            </a:lvl6pPr>
            <a:lvl7pPr marL="2228850" indent="-171450">
              <a:lnSpc>
                <a:spcPct val="100000"/>
              </a:lnSpc>
              <a:spcBef>
                <a:spcPts val="375"/>
              </a:spcBef>
              <a:buClr>
                <a:schemeClr val="bg1"/>
              </a:buClr>
              <a:buSzPct val="120000"/>
              <a:buFont typeface="Arial" panose="020B0604020202020204" pitchFamily="34" charset="0"/>
              <a:buChar char="●"/>
              <a:defRPr sz="1400">
                <a:solidFill>
                  <a:schemeClr val="bg1"/>
                </a:solidFill>
                <a:latin typeface="+mn-lt"/>
              </a:defRPr>
            </a:lvl7pPr>
            <a:lvl8pPr marL="2571750" indent="-171450">
              <a:lnSpc>
                <a:spcPct val="100000"/>
              </a:lnSpc>
              <a:spcBef>
                <a:spcPts val="375"/>
              </a:spcBef>
              <a:buClr>
                <a:schemeClr val="bg1"/>
              </a:buClr>
              <a:buSzPct val="120000"/>
              <a:buFont typeface="Arial" panose="020B0604020202020204" pitchFamily="34" charset="0"/>
              <a:buChar char="●"/>
              <a:defRPr sz="1400">
                <a:solidFill>
                  <a:schemeClr val="bg1"/>
                </a:solidFill>
                <a:latin typeface="+mn-lt"/>
              </a:defRPr>
            </a:lvl8pPr>
            <a:lvl9pPr marL="2914650" indent="-171450">
              <a:lnSpc>
                <a:spcPct val="100000"/>
              </a:lnSpc>
              <a:spcBef>
                <a:spcPts val="375"/>
              </a:spcBef>
              <a:buClr>
                <a:schemeClr val="bg1"/>
              </a:buClr>
              <a:buSzPct val="120000"/>
              <a:buFont typeface="Arial" panose="020B0604020202020204" pitchFamily="34" charset="0"/>
              <a:buChar char="●"/>
              <a:defRPr sz="14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ja-JP" altLang="en-US" dirty="0"/>
              <a:t>マスターテキストの書式設定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  <a:p>
            <a:pPr lvl="5"/>
            <a:r>
              <a:rPr lang="ja-JP" altLang="en-US" dirty="0"/>
              <a:t>テキスト</a:t>
            </a:r>
          </a:p>
          <a:p>
            <a:pPr lvl="6"/>
            <a:r>
              <a:rPr lang="ja-JP" altLang="en-US" dirty="0"/>
              <a:t>テキスト</a:t>
            </a:r>
          </a:p>
          <a:p>
            <a:pPr lvl="7"/>
            <a:r>
              <a:rPr lang="ja-JP" altLang="en-US" dirty="0"/>
              <a:t>テキスト</a:t>
            </a:r>
          </a:p>
          <a:p>
            <a:pPr lvl="8"/>
            <a:r>
              <a:rPr lang="ja-JP" altLang="en-US" dirty="0"/>
              <a:t>テキスト</a:t>
            </a:r>
          </a:p>
        </p:txBody>
      </p:sp>
      <p:sp>
        <p:nvSpPr>
          <p:cNvPr id="10" name="SD_TXT_FUJITSU-PUBLIC(HIDDEN)" hidden="1">
            <a:extLst>
              <a:ext uri="{FF2B5EF4-FFF2-40B4-BE49-F238E27FC236}">
                <a16:creationId xmlns:a16="http://schemas.microsoft.com/office/drawing/2014/main" id="{0670B277-1A86-E3DC-281F-44CEA286550A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FFFFFF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FFFFFF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FFFFFF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118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  <p:hf sldNum="0"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Bullets 1-co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48CD66-B908-3272-8BB7-429D60F6D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711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29775F-09AF-4C6E-AA1C-E07D6D971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00" y="96729"/>
            <a:ext cx="7616245" cy="53994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 dirty="0"/>
              <a:t>マスタータイトルの書式設定</a:t>
            </a:r>
            <a:endParaRPr lang="en-GB" dirty="0"/>
          </a:p>
        </p:txBody>
      </p:sp>
      <p:pic>
        <p:nvPicPr>
          <p:cNvPr id="3" name="Graphic 2" descr="Fujitsuシンボルマーク">
            <a:extLst>
              <a:ext uri="{FF2B5EF4-FFF2-40B4-BE49-F238E27FC236}">
                <a16:creationId xmlns:a16="http://schemas.microsoft.com/office/drawing/2014/main" id="{2802FE88-4688-DBB4-C9DD-70A4D0C04E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6CCA4B0-E658-E7A0-754F-C32458F05C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925200"/>
            <a:ext cx="8640000" cy="25955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375"/>
              </a:spcBef>
              <a:defRPr>
                <a:solidFill>
                  <a:schemeClr val="tx1"/>
                </a:solidFill>
                <a:latin typeface="+mn-lt"/>
              </a:defRPr>
            </a:lvl1pPr>
            <a:lvl2pPr marL="563563" indent="-220663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800">
                <a:solidFill>
                  <a:schemeClr val="tx1"/>
                </a:solidFill>
                <a:latin typeface="+mn-lt"/>
              </a:defRPr>
            </a:lvl2pPr>
            <a:lvl3pPr marL="873125" indent="-187325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600">
                <a:solidFill>
                  <a:schemeClr val="tx1"/>
                </a:solidFill>
                <a:latin typeface="+mn-lt"/>
              </a:defRPr>
            </a:lvl3pPr>
            <a:lvl4pPr marL="12001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solidFill>
                  <a:schemeClr val="tx1"/>
                </a:solidFill>
                <a:latin typeface="+mn-lt"/>
              </a:defRPr>
            </a:lvl4pPr>
            <a:lvl5pPr marL="15430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>
                <a:solidFill>
                  <a:schemeClr val="tx1"/>
                </a:solidFill>
                <a:latin typeface="+mn-lt"/>
              </a:defRPr>
            </a:lvl5pPr>
            <a:lvl6pPr marL="18859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solidFill>
                  <a:schemeClr val="tx1"/>
                </a:solidFill>
                <a:latin typeface="+mn-lt"/>
              </a:defRPr>
            </a:lvl6pPr>
            <a:lvl7pPr marL="22288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solidFill>
                  <a:schemeClr val="tx1"/>
                </a:solidFill>
                <a:latin typeface="+mn-lt"/>
              </a:defRPr>
            </a:lvl7pPr>
            <a:lvl8pPr marL="25717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solidFill>
                  <a:schemeClr val="tx1"/>
                </a:solidFill>
                <a:latin typeface="+mn-lt"/>
              </a:defRPr>
            </a:lvl8pPr>
            <a:lvl9pPr marL="29146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ja-JP" altLang="en-US" dirty="0"/>
              <a:t>マスターテキストの書式設定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  <a:p>
            <a:pPr lvl="5"/>
            <a:r>
              <a:rPr lang="ja-JP" altLang="en-US" dirty="0"/>
              <a:t>テキスト</a:t>
            </a:r>
          </a:p>
          <a:p>
            <a:pPr lvl="6"/>
            <a:r>
              <a:rPr lang="ja-JP" altLang="en-US" dirty="0"/>
              <a:t>テキスト</a:t>
            </a:r>
          </a:p>
          <a:p>
            <a:pPr lvl="7"/>
            <a:r>
              <a:rPr lang="ja-JP" altLang="en-US" dirty="0"/>
              <a:t>テキスト</a:t>
            </a:r>
          </a:p>
          <a:p>
            <a:pPr lvl="8"/>
            <a:r>
              <a:rPr lang="ja-JP" altLang="en-US" dirty="0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4168705115"/>
      </p:ext>
    </p:extLst>
  </p:cSld>
  <p:clrMapOvr>
    <a:masterClrMapping/>
  </p:clrMapOvr>
  <p:transition spd="slow">
    <p:fade/>
  </p:transition>
  <p:hf sldNum="0"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Bullets 1-co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775F-09AF-4C6E-AA1C-E07D6D971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00" y="96729"/>
            <a:ext cx="7617600" cy="539942"/>
          </a:xfrm>
        </p:spPr>
        <p:txBody>
          <a:bodyPr/>
          <a:lstStyle/>
          <a:p>
            <a:r>
              <a:rPr lang="ja-JP" altLang="en-US" dirty="0"/>
              <a:t>マスタータイトルの書式設定</a:t>
            </a:r>
            <a:endParaRPr lang="en-GB" dirty="0"/>
          </a:p>
        </p:txBody>
      </p:sp>
      <p:pic>
        <p:nvPicPr>
          <p:cNvPr id="3" name="Graphic 2" descr="Fujitsuシンボルマーク">
            <a:extLst>
              <a:ext uri="{FF2B5EF4-FFF2-40B4-BE49-F238E27FC236}">
                <a16:creationId xmlns:a16="http://schemas.microsoft.com/office/drawing/2014/main" id="{3097F684-B0EB-B832-FC9D-9C7F7D8095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30E0D551-DBA9-0D2F-FFF8-05078BBD61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925200"/>
            <a:ext cx="8640000" cy="256480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375"/>
              </a:spcBef>
              <a:defRPr>
                <a:latin typeface="+mn-lt"/>
              </a:defRPr>
            </a:lvl1pPr>
            <a:lvl2pPr marL="563563" indent="-220663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800">
                <a:latin typeface="+mn-lt"/>
              </a:defRPr>
            </a:lvl2pPr>
            <a:lvl3pPr marL="873125" indent="-187325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600">
                <a:latin typeface="+mn-lt"/>
              </a:defRPr>
            </a:lvl3pPr>
            <a:lvl4pPr marL="12001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latin typeface="+mn-lt"/>
              </a:defRPr>
            </a:lvl4pPr>
            <a:lvl5pPr marL="15430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>
                <a:latin typeface="+mn-lt"/>
              </a:defRPr>
            </a:lvl5pPr>
            <a:lvl6pPr marL="18859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latin typeface="+mn-lt"/>
              </a:defRPr>
            </a:lvl6pPr>
            <a:lvl7pPr marL="22288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latin typeface="+mn-lt"/>
              </a:defRPr>
            </a:lvl7pPr>
            <a:lvl8pPr marL="25717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latin typeface="+mn-lt"/>
              </a:defRPr>
            </a:lvl8pPr>
            <a:lvl9pPr marL="29146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latin typeface="+mn-lt"/>
              </a:defRPr>
            </a:lvl9pPr>
          </a:lstStyle>
          <a:p>
            <a:pPr lvl="0"/>
            <a:r>
              <a:rPr lang="ja-JP" altLang="en-US" dirty="0"/>
              <a:t>マスターテキストの書式設定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  <a:p>
            <a:pPr lvl="5"/>
            <a:r>
              <a:rPr lang="ja-JP" altLang="en-US" dirty="0"/>
              <a:t>テキスト</a:t>
            </a:r>
          </a:p>
          <a:p>
            <a:pPr lvl="6"/>
            <a:r>
              <a:rPr lang="ja-JP" altLang="en-US" dirty="0"/>
              <a:t>テキスト</a:t>
            </a:r>
          </a:p>
          <a:p>
            <a:pPr lvl="7"/>
            <a:r>
              <a:rPr lang="ja-JP" altLang="en-US" dirty="0"/>
              <a:t>テキスト</a:t>
            </a:r>
          </a:p>
          <a:p>
            <a:pPr lvl="8"/>
            <a:r>
              <a:rPr lang="ja-JP" altLang="en-US" dirty="0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2648736152"/>
      </p:ext>
    </p:extLst>
  </p:cSld>
  <p:clrMapOvr>
    <a:masterClrMapping/>
  </p:clrMapOvr>
  <p:transition spd="slow">
    <p:fade/>
  </p:transition>
  <p:hf sldNum="0"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Bullets 2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775F-09AF-4C6E-AA1C-E07D6D971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00" y="96729"/>
            <a:ext cx="7617600" cy="539942"/>
          </a:xfrm>
        </p:spPr>
        <p:txBody>
          <a:bodyPr/>
          <a:lstStyle/>
          <a:p>
            <a:r>
              <a:rPr lang="ja-JP" altLang="en-US" dirty="0"/>
              <a:t>マスタータイトルの書式設定</a:t>
            </a:r>
            <a:endParaRPr lang="en-GB" dirty="0"/>
          </a:p>
        </p:txBody>
      </p:sp>
      <p:pic>
        <p:nvPicPr>
          <p:cNvPr id="3" name="Graphic 2" descr="Fujitsuシンボルマーク">
            <a:extLst>
              <a:ext uri="{FF2B5EF4-FFF2-40B4-BE49-F238E27FC236}">
                <a16:creationId xmlns:a16="http://schemas.microsoft.com/office/drawing/2014/main" id="{B0FC40D0-AEB2-5A3A-FA24-ADF12AD03E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0831C24-5C20-8D70-3DCE-25CD2CF4D0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925200"/>
            <a:ext cx="4140000" cy="256480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375"/>
              </a:spcBef>
              <a:defRPr>
                <a:latin typeface="+mn-lt"/>
              </a:defRPr>
            </a:lvl1pPr>
            <a:lvl2pPr marL="563563" indent="-220663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800">
                <a:latin typeface="+mn-lt"/>
              </a:defRPr>
            </a:lvl2pPr>
            <a:lvl3pPr marL="873125" indent="-187325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600">
                <a:latin typeface="+mn-lt"/>
              </a:defRPr>
            </a:lvl3pPr>
            <a:lvl4pPr marL="12001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latin typeface="+mn-lt"/>
              </a:defRPr>
            </a:lvl4pPr>
            <a:lvl5pPr marL="15430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>
                <a:latin typeface="+mn-lt"/>
              </a:defRPr>
            </a:lvl5pPr>
            <a:lvl6pPr marL="18859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latin typeface="+mn-lt"/>
              </a:defRPr>
            </a:lvl6pPr>
            <a:lvl7pPr marL="22288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latin typeface="+mn-lt"/>
              </a:defRPr>
            </a:lvl7pPr>
            <a:lvl8pPr marL="25717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latin typeface="+mn-lt"/>
              </a:defRPr>
            </a:lvl8pPr>
            <a:lvl9pPr marL="29146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latin typeface="+mn-lt"/>
              </a:defRPr>
            </a:lvl9pPr>
          </a:lstStyle>
          <a:p>
            <a:pPr lvl="0"/>
            <a:r>
              <a:rPr lang="ja-JP" altLang="en-US" dirty="0"/>
              <a:t>マスターテキストの書式設定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  <a:p>
            <a:pPr lvl="5"/>
            <a:r>
              <a:rPr lang="ja-JP" altLang="en-US" dirty="0"/>
              <a:t>テキスト</a:t>
            </a:r>
          </a:p>
          <a:p>
            <a:pPr lvl="6"/>
            <a:r>
              <a:rPr lang="ja-JP" altLang="en-US" dirty="0"/>
              <a:t>テキスト</a:t>
            </a:r>
          </a:p>
          <a:p>
            <a:pPr lvl="7"/>
            <a:r>
              <a:rPr lang="ja-JP" altLang="en-US" dirty="0"/>
              <a:t>テキスト</a:t>
            </a:r>
          </a:p>
          <a:p>
            <a:pPr lvl="8"/>
            <a:r>
              <a:rPr lang="ja-JP" altLang="en-US" dirty="0"/>
              <a:t>テキスト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79C8A3B1-679E-248B-F10C-293B95EDD5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52002" y="925200"/>
            <a:ext cx="4140000" cy="256480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375"/>
              </a:spcBef>
              <a:defRPr>
                <a:latin typeface="+mn-lt"/>
              </a:defRPr>
            </a:lvl1pPr>
            <a:lvl2pPr marL="563563" indent="-220663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800">
                <a:latin typeface="+mn-lt"/>
              </a:defRPr>
            </a:lvl2pPr>
            <a:lvl3pPr marL="873125" indent="-187325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600">
                <a:latin typeface="+mn-lt"/>
              </a:defRPr>
            </a:lvl3pPr>
            <a:lvl4pPr marL="12001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latin typeface="+mn-lt"/>
              </a:defRPr>
            </a:lvl4pPr>
            <a:lvl5pPr marL="15430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>
                <a:latin typeface="+mn-lt"/>
              </a:defRPr>
            </a:lvl5pPr>
            <a:lvl6pPr marL="18859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latin typeface="+mn-lt"/>
              </a:defRPr>
            </a:lvl6pPr>
            <a:lvl7pPr marL="22288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latin typeface="+mn-lt"/>
              </a:defRPr>
            </a:lvl7pPr>
            <a:lvl8pPr marL="25717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latin typeface="+mn-lt"/>
              </a:defRPr>
            </a:lvl8pPr>
            <a:lvl9pPr marL="2914650" indent="-171450">
              <a:lnSpc>
                <a:spcPct val="100000"/>
              </a:lnSpc>
              <a:spcBef>
                <a:spcPts val="375"/>
              </a:spcBef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defRPr sz="1400">
                <a:latin typeface="+mn-lt"/>
              </a:defRPr>
            </a:lvl9pPr>
          </a:lstStyle>
          <a:p>
            <a:pPr lvl="0"/>
            <a:r>
              <a:rPr lang="ja-JP" altLang="en-US" dirty="0"/>
              <a:t>マスターテキストの書式設定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  <a:p>
            <a:pPr lvl="5"/>
            <a:r>
              <a:rPr lang="ja-JP" altLang="en-US" dirty="0"/>
              <a:t>テキスト</a:t>
            </a:r>
          </a:p>
          <a:p>
            <a:pPr lvl="6"/>
            <a:r>
              <a:rPr lang="ja-JP" altLang="en-US" dirty="0"/>
              <a:t>テキスト</a:t>
            </a:r>
          </a:p>
          <a:p>
            <a:pPr lvl="7"/>
            <a:r>
              <a:rPr lang="ja-JP" altLang="en-US" dirty="0"/>
              <a:t>テキスト</a:t>
            </a:r>
          </a:p>
          <a:p>
            <a:pPr lvl="8"/>
            <a:r>
              <a:rPr lang="ja-JP" altLang="en-US" dirty="0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527136613"/>
      </p:ext>
    </p:extLst>
  </p:cSld>
  <p:clrMapOvr>
    <a:masterClrMapping/>
  </p:clrMapOvr>
  <p:transition spd="slow">
    <p:fade/>
  </p:transition>
  <p:hf sldNum="0"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Agenda slid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>
            <a:extLst>
              <a:ext uri="{FF2B5EF4-FFF2-40B4-BE49-F238E27FC236}">
                <a16:creationId xmlns:a16="http://schemas.microsoft.com/office/drawing/2014/main" id="{7584FE3E-597F-BA61-7EB2-8087DB209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Fujitsu Infinity Pro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9775F-09AF-4C6E-AA1C-E07D6D971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00" y="97200"/>
            <a:ext cx="7585765" cy="53994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 dirty="0"/>
              <a:t>マスタータイトルの書式設定</a:t>
            </a:r>
            <a:endParaRPr lang="en-GB" dirty="0"/>
          </a:p>
        </p:txBody>
      </p:sp>
      <p:sp>
        <p:nvSpPr>
          <p:cNvPr id="13" name="テキスト プレースホルダー 4">
            <a:extLst>
              <a:ext uri="{FF2B5EF4-FFF2-40B4-BE49-F238E27FC236}">
                <a16:creationId xmlns:a16="http://schemas.microsoft.com/office/drawing/2014/main" id="{3B6C6E87-408C-FCF6-E545-F29F4833AA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000" y="1328400"/>
            <a:ext cx="4368800" cy="27720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ja-JP" altLang="en-US" dirty="0"/>
              <a:t>クリックしてトピック</a:t>
            </a:r>
            <a:r>
              <a:rPr kumimoji="1" lang="en-US" altLang="ja-JP" dirty="0"/>
              <a:t>1</a:t>
            </a:r>
            <a:r>
              <a:rPr kumimoji="1" lang="ja-JP" altLang="en-US" dirty="0"/>
              <a:t>を編集</a:t>
            </a:r>
          </a:p>
        </p:txBody>
      </p:sp>
      <p:sp>
        <p:nvSpPr>
          <p:cNvPr id="14" name="テキスト プレースホルダー 4">
            <a:extLst>
              <a:ext uri="{FF2B5EF4-FFF2-40B4-BE49-F238E27FC236}">
                <a16:creationId xmlns:a16="http://schemas.microsoft.com/office/drawing/2014/main" id="{BB7B935C-F8A6-3CBB-B6F1-6C9624C933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6000" y="1971900"/>
            <a:ext cx="4368800" cy="27720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ja-JP" altLang="en-US" dirty="0"/>
              <a:t>クリックしてトピック</a:t>
            </a:r>
            <a:r>
              <a:rPr kumimoji="1" lang="en-US" altLang="ja-JP" dirty="0"/>
              <a:t>2</a:t>
            </a:r>
            <a:r>
              <a:rPr kumimoji="1" lang="ja-JP" altLang="en-US" dirty="0"/>
              <a:t>を編集</a:t>
            </a:r>
          </a:p>
        </p:txBody>
      </p:sp>
      <p:sp>
        <p:nvSpPr>
          <p:cNvPr id="15" name="テキスト プレースホルダー 4">
            <a:extLst>
              <a:ext uri="{FF2B5EF4-FFF2-40B4-BE49-F238E27FC236}">
                <a16:creationId xmlns:a16="http://schemas.microsoft.com/office/drawing/2014/main" id="{B690D5EA-9B4B-5983-E409-A714B05A90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6000" y="2615400"/>
            <a:ext cx="4368800" cy="27720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ja-JP" altLang="en-US" dirty="0"/>
              <a:t>クリックしてトピック</a:t>
            </a:r>
            <a:r>
              <a:rPr kumimoji="1" lang="en-US" altLang="ja-JP" dirty="0"/>
              <a:t>3</a:t>
            </a:r>
            <a:r>
              <a:rPr kumimoji="1" lang="ja-JP" altLang="en-US" dirty="0"/>
              <a:t>を編集</a:t>
            </a:r>
          </a:p>
        </p:txBody>
      </p:sp>
      <p:sp>
        <p:nvSpPr>
          <p:cNvPr id="17" name="テキスト プレースホルダー 4">
            <a:extLst>
              <a:ext uri="{FF2B5EF4-FFF2-40B4-BE49-F238E27FC236}">
                <a16:creationId xmlns:a16="http://schemas.microsoft.com/office/drawing/2014/main" id="{252F8230-7FD2-59F7-60F6-0167077598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6000" y="3258900"/>
            <a:ext cx="4368800" cy="27720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ja-JP" altLang="en-US" dirty="0"/>
              <a:t>クリックしてトピック</a:t>
            </a:r>
            <a:r>
              <a:rPr kumimoji="1" lang="en-US" altLang="ja-JP" dirty="0"/>
              <a:t>4</a:t>
            </a:r>
            <a:r>
              <a:rPr kumimoji="1" lang="ja-JP" altLang="en-US" dirty="0"/>
              <a:t>を編集</a:t>
            </a:r>
          </a:p>
        </p:txBody>
      </p:sp>
      <p:sp>
        <p:nvSpPr>
          <p:cNvPr id="18" name="テキスト プレースホルダー 4">
            <a:extLst>
              <a:ext uri="{FF2B5EF4-FFF2-40B4-BE49-F238E27FC236}">
                <a16:creationId xmlns:a16="http://schemas.microsoft.com/office/drawing/2014/main" id="{8E3855F2-8B0E-FD50-E510-E1FAB755CE3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6000" y="3902400"/>
            <a:ext cx="4368800" cy="27720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ja-JP" altLang="en-US" dirty="0"/>
              <a:t>クリックしてトピック</a:t>
            </a:r>
            <a:r>
              <a:rPr kumimoji="1" lang="en-US" altLang="ja-JP" dirty="0"/>
              <a:t>5</a:t>
            </a:r>
            <a:r>
              <a:rPr kumimoji="1" lang="ja-JP" altLang="en-US" dirty="0"/>
              <a:t>を編集</a:t>
            </a:r>
          </a:p>
        </p:txBody>
      </p:sp>
      <p:sp>
        <p:nvSpPr>
          <p:cNvPr id="6" name="図プレースホルダー 3" descr="図のプレースホルダー">
            <a:extLst>
              <a:ext uri="{FF2B5EF4-FFF2-40B4-BE49-F238E27FC236}">
                <a16:creationId xmlns:a16="http://schemas.microsoft.com/office/drawing/2014/main" id="{430E4FF1-4315-443C-E5CE-B850F2FD5F6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3200" y="1108800"/>
            <a:ext cx="3042000" cy="341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buClr>
                <a:schemeClr val="bg1"/>
              </a:buClr>
              <a:defRPr sz="22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画像アイコンをクリックして写真を挿入します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37ACA-9190-76FF-C2C0-FE646AE4D4C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222750" y="4846119"/>
            <a:ext cx="6985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A074E8-F422-4440-8422-1D4EA02D575A}" type="slidenum">
              <a:rPr lang="en-GB" smtClean="0">
                <a:solidFill>
                  <a:schemeClr val="bg1"/>
                </a:solidFill>
                <a:latin typeface="+mn-lt"/>
              </a:rPr>
              <a:t>‹#›</a:t>
            </a:fld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E1DC0B9-B7EE-82D5-29B8-661838712F59}"/>
              </a:ext>
            </a:extLst>
          </p:cNvPr>
          <p:cNvSpPr txBox="1">
            <a:spLocks/>
          </p:cNvSpPr>
          <p:nvPr userDrawn="1"/>
        </p:nvSpPr>
        <p:spPr>
          <a:xfrm>
            <a:off x="4962529" y="4853813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8" name="Graphic 2" descr="Fujitsuシンボルマーク">
            <a:extLst>
              <a:ext uri="{FF2B5EF4-FFF2-40B4-BE49-F238E27FC236}">
                <a16:creationId xmlns:a16="http://schemas.microsoft.com/office/drawing/2014/main" id="{BCA300AD-FEB7-E3A8-EF28-39D6290745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10" name="SD_TXT_FUJITSU-PUBLIC(HIDDEN)" hidden="1">
            <a:extLst>
              <a:ext uri="{FF2B5EF4-FFF2-40B4-BE49-F238E27FC236}">
                <a16:creationId xmlns:a16="http://schemas.microsoft.com/office/drawing/2014/main" id="{17F13AE5-FCA5-8220-A13D-EA0CD1EEDC28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FFFFFF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FFFFFF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FFFFFF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408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  <p:hf sldNum="0"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Agenda 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>
            <a:extLst>
              <a:ext uri="{FF2B5EF4-FFF2-40B4-BE49-F238E27FC236}">
                <a16:creationId xmlns:a16="http://schemas.microsoft.com/office/drawing/2014/main" id="{7584FE3E-597F-BA61-7EB2-8087DB209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Fujitsu Infinity Pro" pitchFamily="2" charset="0"/>
            </a:endParaRPr>
          </a:p>
        </p:txBody>
      </p:sp>
      <p:cxnSp>
        <p:nvCxnSpPr>
          <p:cNvPr id="4" name="Straight Connector 8">
            <a:extLst>
              <a:ext uri="{FF2B5EF4-FFF2-40B4-BE49-F238E27FC236}">
                <a16:creationId xmlns:a16="http://schemas.microsoft.com/office/drawing/2014/main" id="{F40C23EB-2B58-2DF8-40B0-EFD67AA9C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34094" y="1296547"/>
            <a:ext cx="1" cy="290360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29775F-09AF-4C6E-AA1C-E07D6D971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00" y="97200"/>
            <a:ext cx="7585765" cy="53994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 dirty="0"/>
              <a:t>マスタータイトルの書式設定</a:t>
            </a:r>
            <a:endParaRPr lang="en-GB" dirty="0"/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1B52CEB9-D610-787C-F251-92111C6C52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9600" y="1321200"/>
            <a:ext cx="3567600" cy="25622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●"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ja-JP" altLang="en-US" dirty="0"/>
              <a:t>クリックしてトピック</a:t>
            </a:r>
            <a:r>
              <a:rPr kumimoji="1" lang="en-US" altLang="ja-JP" dirty="0"/>
              <a:t>1</a:t>
            </a:r>
            <a:r>
              <a:rPr kumimoji="1" lang="ja-JP" altLang="en-US" dirty="0"/>
              <a:t>を編集</a:t>
            </a:r>
          </a:p>
        </p:txBody>
      </p:sp>
      <p:sp>
        <p:nvSpPr>
          <p:cNvPr id="13" name="テキスト プレースホルダー 4">
            <a:extLst>
              <a:ext uri="{FF2B5EF4-FFF2-40B4-BE49-F238E27FC236}">
                <a16:creationId xmlns:a16="http://schemas.microsoft.com/office/drawing/2014/main" id="{F8A0AB40-455A-A9CA-E531-08DBE18E42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9600" y="1964700"/>
            <a:ext cx="3567600" cy="25622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●"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ja-JP" altLang="en-US" dirty="0"/>
              <a:t>クリックしてトピック</a:t>
            </a:r>
            <a:r>
              <a:rPr kumimoji="1" lang="en-US" altLang="ja-JP" dirty="0"/>
              <a:t>2</a:t>
            </a:r>
            <a:r>
              <a:rPr kumimoji="1" lang="ja-JP" altLang="en-US" dirty="0"/>
              <a:t>を編集</a:t>
            </a:r>
          </a:p>
        </p:txBody>
      </p:sp>
      <p:sp>
        <p:nvSpPr>
          <p:cNvPr id="14" name="テキスト プレースホルダー 4">
            <a:extLst>
              <a:ext uri="{FF2B5EF4-FFF2-40B4-BE49-F238E27FC236}">
                <a16:creationId xmlns:a16="http://schemas.microsoft.com/office/drawing/2014/main" id="{10E8E981-BDFC-162D-4191-621554E7D21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600" y="2608200"/>
            <a:ext cx="3567600" cy="25622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●"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ja-JP" altLang="en-US" dirty="0"/>
              <a:t>クリックしてトピック</a:t>
            </a:r>
            <a:r>
              <a:rPr kumimoji="1" lang="en-US" altLang="ja-JP" dirty="0"/>
              <a:t>3</a:t>
            </a:r>
            <a:r>
              <a:rPr kumimoji="1" lang="ja-JP" altLang="en-US" dirty="0"/>
              <a:t>を編集</a:t>
            </a:r>
          </a:p>
        </p:txBody>
      </p:sp>
      <p:sp>
        <p:nvSpPr>
          <p:cNvPr id="15" name="テキスト プレースホルダー 4">
            <a:extLst>
              <a:ext uri="{FF2B5EF4-FFF2-40B4-BE49-F238E27FC236}">
                <a16:creationId xmlns:a16="http://schemas.microsoft.com/office/drawing/2014/main" id="{437B95D3-BC1E-49E2-E163-200BA57F76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9600" y="3251700"/>
            <a:ext cx="3567600" cy="25622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●"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ja-JP" altLang="en-US" dirty="0"/>
              <a:t>クリックしてトピック</a:t>
            </a:r>
            <a:r>
              <a:rPr kumimoji="1" lang="en-US" altLang="ja-JP" dirty="0"/>
              <a:t>4</a:t>
            </a:r>
            <a:r>
              <a:rPr kumimoji="1" lang="ja-JP" altLang="en-US" dirty="0"/>
              <a:t>を編集</a:t>
            </a:r>
          </a:p>
        </p:txBody>
      </p:sp>
      <p:sp>
        <p:nvSpPr>
          <p:cNvPr id="17" name="テキスト プレースホルダー 4">
            <a:extLst>
              <a:ext uri="{FF2B5EF4-FFF2-40B4-BE49-F238E27FC236}">
                <a16:creationId xmlns:a16="http://schemas.microsoft.com/office/drawing/2014/main" id="{B9077F6C-BBBC-2B91-815C-F8DFAEF4BBA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600" y="3895200"/>
            <a:ext cx="3567600" cy="25622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●"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ja-JP" altLang="en-US" dirty="0"/>
              <a:t>クリックしてトピック</a:t>
            </a:r>
            <a:r>
              <a:rPr kumimoji="1" lang="en-US" altLang="ja-JP" dirty="0"/>
              <a:t>5</a:t>
            </a:r>
            <a:r>
              <a:rPr kumimoji="1" lang="ja-JP" altLang="en-US" dirty="0"/>
              <a:t>を編集</a:t>
            </a:r>
          </a:p>
        </p:txBody>
      </p:sp>
      <p:sp>
        <p:nvSpPr>
          <p:cNvPr id="18" name="テキスト プレースホルダー 4">
            <a:extLst>
              <a:ext uri="{FF2B5EF4-FFF2-40B4-BE49-F238E27FC236}">
                <a16:creationId xmlns:a16="http://schemas.microsoft.com/office/drawing/2014/main" id="{43AEC63C-AB4C-8C27-36EF-1763C0BBFF2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21200" y="1321200"/>
            <a:ext cx="3567600" cy="25622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●"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ja-JP" altLang="en-US" dirty="0"/>
              <a:t>クリックしてトピック</a:t>
            </a:r>
            <a:r>
              <a:rPr kumimoji="1" lang="en-US" altLang="ja-JP" dirty="0"/>
              <a:t>6</a:t>
            </a:r>
            <a:r>
              <a:rPr kumimoji="1" lang="ja-JP" altLang="en-US" dirty="0"/>
              <a:t>を編集</a:t>
            </a:r>
          </a:p>
        </p:txBody>
      </p:sp>
      <p:sp>
        <p:nvSpPr>
          <p:cNvPr id="19" name="テキスト プレースホルダー 4">
            <a:extLst>
              <a:ext uri="{FF2B5EF4-FFF2-40B4-BE49-F238E27FC236}">
                <a16:creationId xmlns:a16="http://schemas.microsoft.com/office/drawing/2014/main" id="{CE041E4F-4D81-2C7C-E7C7-9A960F4D8E1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21200" y="1964700"/>
            <a:ext cx="3567600" cy="25622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●"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ja-JP" altLang="en-US" dirty="0"/>
              <a:t>クリックしてトピック</a:t>
            </a:r>
            <a:r>
              <a:rPr kumimoji="1" lang="en-US" altLang="ja-JP" dirty="0"/>
              <a:t>7</a:t>
            </a:r>
            <a:r>
              <a:rPr kumimoji="1" lang="ja-JP" altLang="en-US" dirty="0"/>
              <a:t>を編集</a:t>
            </a:r>
          </a:p>
        </p:txBody>
      </p:sp>
      <p:sp>
        <p:nvSpPr>
          <p:cNvPr id="20" name="テキスト プレースホルダー 4">
            <a:extLst>
              <a:ext uri="{FF2B5EF4-FFF2-40B4-BE49-F238E27FC236}">
                <a16:creationId xmlns:a16="http://schemas.microsoft.com/office/drawing/2014/main" id="{2DC5850F-63E0-2E7D-EF6C-72253D51EB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21200" y="2608200"/>
            <a:ext cx="3567600" cy="25622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●"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ja-JP" altLang="en-US" dirty="0"/>
              <a:t>クリックしてトピック</a:t>
            </a:r>
            <a:r>
              <a:rPr kumimoji="1" lang="en-US" altLang="ja-JP" dirty="0"/>
              <a:t>8</a:t>
            </a:r>
            <a:r>
              <a:rPr kumimoji="1" lang="ja-JP" altLang="en-US" dirty="0"/>
              <a:t>を編集</a:t>
            </a:r>
          </a:p>
        </p:txBody>
      </p:sp>
      <p:sp>
        <p:nvSpPr>
          <p:cNvPr id="21" name="テキスト プレースホルダー 4">
            <a:extLst>
              <a:ext uri="{FF2B5EF4-FFF2-40B4-BE49-F238E27FC236}">
                <a16:creationId xmlns:a16="http://schemas.microsoft.com/office/drawing/2014/main" id="{D1C3747E-3FA9-2A50-C238-3B97B9DD47A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21200" y="3251700"/>
            <a:ext cx="3567600" cy="25622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●"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ja-JP" altLang="en-US" dirty="0"/>
              <a:t>クリックしてトピック</a:t>
            </a:r>
            <a:r>
              <a:rPr kumimoji="1" lang="en-US" altLang="ja-JP" dirty="0"/>
              <a:t>9</a:t>
            </a:r>
            <a:r>
              <a:rPr kumimoji="1" lang="ja-JP" altLang="en-US" dirty="0"/>
              <a:t>を編集</a:t>
            </a:r>
          </a:p>
        </p:txBody>
      </p:sp>
      <p:sp>
        <p:nvSpPr>
          <p:cNvPr id="22" name="テキスト プレースホルダー 4">
            <a:extLst>
              <a:ext uri="{FF2B5EF4-FFF2-40B4-BE49-F238E27FC236}">
                <a16:creationId xmlns:a16="http://schemas.microsoft.com/office/drawing/2014/main" id="{8697E5AD-642E-63AF-BC17-C68D3C5124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21200" y="3895200"/>
            <a:ext cx="3567600" cy="25622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●"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ja-JP" altLang="en-US" dirty="0"/>
              <a:t>クリックしてトピック</a:t>
            </a:r>
            <a:r>
              <a:rPr kumimoji="1" lang="en-US" altLang="ja-JP" dirty="0"/>
              <a:t>10</a:t>
            </a:r>
            <a:r>
              <a:rPr kumimoji="1" lang="ja-JP" altLang="en-US" dirty="0"/>
              <a:t>を編集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37ACA-9190-76FF-C2C0-FE646AE4D4C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222750" y="4846119"/>
            <a:ext cx="6985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135F6A-3D51-4BF2-899D-D59E99A87CB7}" type="slidenum">
              <a:rPr lang="en-GB" smtClean="0">
                <a:solidFill>
                  <a:schemeClr val="bg1"/>
                </a:solidFill>
                <a:latin typeface="+mn-lt"/>
              </a:rPr>
              <a:t>‹#›</a:t>
            </a:fld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E1DC0B9-B7EE-82D5-29B8-661838712F59}"/>
              </a:ext>
            </a:extLst>
          </p:cNvPr>
          <p:cNvSpPr txBox="1">
            <a:spLocks/>
          </p:cNvSpPr>
          <p:nvPr userDrawn="1"/>
        </p:nvSpPr>
        <p:spPr>
          <a:xfrm>
            <a:off x="4962529" y="4853813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9" name="Graphic 2" descr="Fujitsuシンボルマーク">
            <a:extLst>
              <a:ext uri="{FF2B5EF4-FFF2-40B4-BE49-F238E27FC236}">
                <a16:creationId xmlns:a16="http://schemas.microsoft.com/office/drawing/2014/main" id="{0390A46E-224E-D380-823E-AE79B93435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11" name="SD_TXT_FUJITSU-PUBLIC(HIDDEN)" hidden="1">
            <a:extLst>
              <a:ext uri="{FF2B5EF4-FFF2-40B4-BE49-F238E27FC236}">
                <a16:creationId xmlns:a16="http://schemas.microsoft.com/office/drawing/2014/main" id="{8C28096F-00DD-FD48-9D8F-723E197BE834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FFFFFF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FFFFFF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FFFFFF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353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  <p:hf sldNum="0"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97F2824-0413-B9F2-CEB1-1CDB75A5B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DC4EEF0-E165-41C3-9249-42A8F2445F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2000" y="2160000"/>
            <a:ext cx="3492000" cy="724608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E64533-1942-4007-F37C-7B07DE84F951}"/>
              </a:ext>
            </a:extLst>
          </p:cNvPr>
          <p:cNvSpPr txBox="1">
            <a:spLocks/>
          </p:cNvSpPr>
          <p:nvPr userDrawn="1"/>
        </p:nvSpPr>
        <p:spPr>
          <a:xfrm>
            <a:off x="4962529" y="4853813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  <a:latin typeface="+mn-lt"/>
              </a:rPr>
              <a:t>© 2026 Fujitsu Limited</a:t>
            </a:r>
            <a:endParaRPr lang="en-GB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Graphic 2" descr="Fujitsuシンボルマーク">
            <a:extLst>
              <a:ext uri="{FF2B5EF4-FFF2-40B4-BE49-F238E27FC236}">
                <a16:creationId xmlns:a16="http://schemas.microsoft.com/office/drawing/2014/main" id="{D814CC64-56D2-094B-ED2B-B354E3FABD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sp>
        <p:nvSpPr>
          <p:cNvPr id="7" name="SD_TXT_FUJITSU-PUBLIC(HIDDEN)" hidden="1">
            <a:extLst>
              <a:ext uri="{FF2B5EF4-FFF2-40B4-BE49-F238E27FC236}">
                <a16:creationId xmlns:a16="http://schemas.microsoft.com/office/drawing/2014/main" id="{52E3F250-4E0B-ECD1-5D85-5AD7454D5606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FFFFFF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FFFFFF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FFFFFF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498779"/>
      </p:ext>
    </p:extLst>
  </p:cSld>
  <p:clrMapOvr>
    <a:masterClrMapping/>
  </p:clrMapOvr>
  <p:transition spd="slow">
    <p:fade/>
  </p:transition>
  <p:hf sldNum="0"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16DE8C51-9998-D8BD-3F42-BE3BE6898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 rot="10800000" flipH="1" flipV="1">
            <a:off x="0" y="0"/>
            <a:ext cx="9144000" cy="71238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252000" y="97229"/>
            <a:ext cx="7626405" cy="539942"/>
          </a:xfrm>
          <a:prstGeom prst="rect">
            <a:avLst/>
          </a:prstGeom>
        </p:spPr>
        <p:txBody>
          <a:bodyPr vert="horz" wrap="square" lIns="0" tIns="108000" rIns="0" bIns="0" rtlCol="0" anchor="ctr">
            <a:spAutoFit/>
          </a:bodyPr>
          <a:lstStyle/>
          <a:p>
            <a:r>
              <a:rPr lang="ja-JP" altLang="en-US" dirty="0"/>
              <a:t>マスタータイトルの書式設定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251999" y="925193"/>
            <a:ext cx="8641175" cy="256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ja-JP" altLang="en-US" dirty="0"/>
              <a:t>マスターテキストの書式設定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  <a:p>
            <a:pPr lvl="5"/>
            <a:r>
              <a:rPr lang="ja-JP" altLang="en-US" dirty="0"/>
              <a:t>テキスト</a:t>
            </a:r>
          </a:p>
          <a:p>
            <a:pPr lvl="6"/>
            <a:r>
              <a:rPr lang="ja-JP" altLang="en-US" dirty="0"/>
              <a:t>テキスト</a:t>
            </a:r>
          </a:p>
          <a:p>
            <a:pPr lvl="7"/>
            <a:r>
              <a:rPr lang="ja-JP" altLang="en-US" dirty="0"/>
              <a:t>テキスト</a:t>
            </a:r>
          </a:p>
          <a:p>
            <a:pPr lvl="8"/>
            <a:r>
              <a:rPr lang="ja-JP" altLang="en-US" dirty="0"/>
              <a:t>テキスト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CAC24A4-2F31-CBC1-05D3-7E28AB2614A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222750" y="4846119"/>
            <a:ext cx="6985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5C6F100-C169-4A42-8189-20D724DD6386}" type="slidenum">
              <a:rPr lang="en-GB" smtClean="0">
                <a:latin typeface="+mn-lt"/>
              </a:rPr>
              <a:t>‹#›</a:t>
            </a:fld>
            <a:endParaRPr lang="en-GB" dirty="0">
              <a:latin typeface="+mn-lt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B124AF2-8394-6BC2-0B5D-1350EBCCAB53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962529" y="4853813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latin typeface="+mn-lt"/>
              </a:rPr>
              <a:t>© 2026 Fujitsu Limited</a:t>
            </a:r>
            <a:endParaRPr lang="en-GB" dirty="0">
              <a:latin typeface="+mn-lt"/>
            </a:endParaRPr>
          </a:p>
        </p:txBody>
      </p:sp>
      <p:pic>
        <p:nvPicPr>
          <p:cNvPr id="5" name="Graphic 2" descr="Fujitsuシンボルマーク">
            <a:extLst>
              <a:ext uri="{FF2B5EF4-FFF2-40B4-BE49-F238E27FC236}">
                <a16:creationId xmlns:a16="http://schemas.microsoft.com/office/drawing/2014/main" id="{5D123047-6017-6766-576F-967EE8DBCE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994132" y="136720"/>
            <a:ext cx="866444" cy="421882"/>
          </a:xfrm>
          <a:prstGeom prst="rect">
            <a:avLst/>
          </a:prstGeom>
        </p:spPr>
      </p:pic>
      <p:pic>
        <p:nvPicPr>
          <p:cNvPr id="24" name="Picture 23" descr="Fujitsu RGB カラーパレットの画像">
            <a:extLst>
              <a:ext uri="{FF2B5EF4-FFF2-40B4-BE49-F238E27FC236}">
                <a16:creationId xmlns:a16="http://schemas.microsoft.com/office/drawing/2014/main" id="{CA8FFE63-B5D3-4D34-ACFF-C336C1DB41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9264043" y="-14287"/>
            <a:ext cx="670272" cy="3374707"/>
          </a:xfrm>
          <a:prstGeom prst="rect">
            <a:avLst/>
          </a:prstGeom>
        </p:spPr>
      </p:pic>
      <p:sp>
        <p:nvSpPr>
          <p:cNvPr id="10" name="SD_TXT_FUJITSU-PUBLIC(HIDDEN)" hidden="1">
            <a:extLst>
              <a:ext uri="{FF2B5EF4-FFF2-40B4-BE49-F238E27FC236}">
                <a16:creationId xmlns:a16="http://schemas.microsoft.com/office/drawing/2014/main" id="{AEE9C492-0CCE-BFFE-C93E-2B29FE837406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000000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000000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6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8" r:id="rId2"/>
    <p:sldLayoutId id="2147483791" r:id="rId3"/>
    <p:sldLayoutId id="2147483794" r:id="rId4"/>
    <p:sldLayoutId id="2147483797" r:id="rId5"/>
    <p:sldLayoutId id="2147483800" r:id="rId6"/>
    <p:sldLayoutId id="2147483803" r:id="rId7"/>
    <p:sldLayoutId id="2147483792" r:id="rId8"/>
    <p:sldLayoutId id="2147483795" r:id="rId9"/>
    <p:sldLayoutId id="2147483798" r:id="rId10"/>
    <p:sldLayoutId id="2147483801" r:id="rId11"/>
    <p:sldLayoutId id="2147483790" r:id="rId12"/>
  </p:sldLayoutIdLst>
  <p:transition spd="slow">
    <p:fade/>
  </p:transition>
  <p:hf sldNum="0" hdr="0"/>
  <p:txStyles>
    <p:titleStyle>
      <a:lvl1pPr algn="l" defTabSz="685800" rtl="0" eaLnBrk="1" latinLnBrk="0" hangingPunct="1">
        <a:lnSpc>
          <a:spcPct val="100000"/>
        </a:lnSpc>
        <a:spcBef>
          <a:spcPts val="0"/>
        </a:spcBef>
        <a:buNone/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50825" indent="-250825" algn="l" defTabSz="685800" rtl="0" eaLnBrk="1" latinLnBrk="0" hangingPunct="1">
        <a:lnSpc>
          <a:spcPct val="100000"/>
        </a:lnSpc>
        <a:spcBef>
          <a:spcPts val="375"/>
        </a:spcBef>
        <a:buClr>
          <a:srgbClr val="D80084"/>
        </a:buClr>
        <a:buSzPct val="120000"/>
        <a:buFont typeface="Arial" panose="020B0604020202020204" pitchFamily="34" charset="0"/>
        <a:buChar char="●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63563" indent="-220663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120000"/>
        <a:buFont typeface="Arial" panose="020B0604020202020204" pitchFamily="34" charset="0"/>
        <a:buChar char="●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73125" indent="-187325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120000"/>
        <a:buFont typeface="Arial" panose="020B0604020202020204" pitchFamily="34" charset="0"/>
        <a:buChar char="●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120000"/>
        <a:buFont typeface="Arial" panose="020B0604020202020204" pitchFamily="34" charset="0"/>
        <a:buChar char="●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120000"/>
        <a:buFont typeface="Arial" panose="020B0604020202020204" pitchFamily="34" charset="0"/>
        <a:buChar char="●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00" indent="-17280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120000"/>
        <a:buFont typeface="Arial" panose="020B0604020202020204" pitchFamily="34" charset="0"/>
        <a:buChar char="●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120000"/>
        <a:buFont typeface="Arial" panose="020B0604020202020204" pitchFamily="34" charset="0"/>
        <a:buChar char="●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120000"/>
        <a:buFont typeface="Arial" panose="020B0604020202020204" pitchFamily="34" charset="0"/>
        <a:buChar char="●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120000"/>
        <a:buFont typeface="Arial" panose="020B0604020202020204" pitchFamily="34" charset="0"/>
        <a:buChar char="●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620" userDrawn="1">
          <p15:clr>
            <a:srgbClr val="F26B43"/>
          </p15:clr>
        </p15:guide>
        <p15:guide id="3" pos="158" userDrawn="1">
          <p15:clr>
            <a:srgbClr val="F26B43"/>
          </p15:clr>
        </p15:guide>
        <p15:guide id="4" pos="5602" userDrawn="1">
          <p15:clr>
            <a:srgbClr val="F26B43"/>
          </p15:clr>
        </p15:guide>
        <p15:guide id="6" orient="horz" pos="169" userDrawn="1">
          <p15:clr>
            <a:srgbClr val="F26B43"/>
          </p15:clr>
        </p15:guide>
        <p15:guide id="7" orient="horz" pos="3072" userDrawn="1">
          <p15:clr>
            <a:srgbClr val="F26B43"/>
          </p15:clr>
        </p15:guide>
        <p15:guide id="8" orient="horz" pos="57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252000" y="96729"/>
            <a:ext cx="7886700" cy="539942"/>
          </a:xfrm>
          <a:prstGeom prst="rect">
            <a:avLst/>
          </a:prstGeom>
        </p:spPr>
        <p:txBody>
          <a:bodyPr vert="horz" lIns="0" tIns="108000" rIns="0" bIns="0" rtlCol="0" anchor="ctr">
            <a:spAutoFit/>
          </a:bodyPr>
          <a:lstStyle/>
          <a:p>
            <a:r>
              <a:rPr lang="ja-JP" altLang="en-US" dirty="0"/>
              <a:t>マスタータイトルの書式設定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7DA1A5-BED3-DAD3-3F81-44FFD161336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222750" y="4846119"/>
            <a:ext cx="6985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1D4F52-C82D-49DA-BE39-28AD1568DA5D}" type="slidenum">
              <a:rPr lang="en-GB" smtClean="0">
                <a:latin typeface="+mn-lt"/>
              </a:rPr>
              <a:t>‹#›</a:t>
            </a:fld>
            <a:endParaRPr lang="en-GB" dirty="0">
              <a:latin typeface="+mn-lt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BCE87F-060D-8205-7F6E-80C9328B23B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962529" y="4853813"/>
            <a:ext cx="390594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latin typeface="+mn-lt"/>
              </a:rPr>
              <a:t>© 2026 Fujitsu Limited</a:t>
            </a:r>
            <a:endParaRPr lang="en-GB" dirty="0">
              <a:latin typeface="+mn-lt"/>
            </a:endParaRPr>
          </a:p>
        </p:txBody>
      </p:sp>
      <p:pic>
        <p:nvPicPr>
          <p:cNvPr id="24" name="Picture 23" descr="Fujitsu RGB カラーパレットの画像">
            <a:extLst>
              <a:ext uri="{FF2B5EF4-FFF2-40B4-BE49-F238E27FC236}">
                <a16:creationId xmlns:a16="http://schemas.microsoft.com/office/drawing/2014/main" id="{CA8FFE63-B5D3-4D34-ACFF-C336C1DB41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9264043" y="-14287"/>
            <a:ext cx="670272" cy="3374707"/>
          </a:xfrm>
          <a:prstGeom prst="rect">
            <a:avLst/>
          </a:prstGeom>
        </p:spPr>
      </p:pic>
      <p:sp>
        <p:nvSpPr>
          <p:cNvPr id="5" name="SD_TXT_FUJITSU-PUBLIC(HIDDEN)" hidden="1">
            <a:extLst>
              <a:ext uri="{FF2B5EF4-FFF2-40B4-BE49-F238E27FC236}">
                <a16:creationId xmlns:a16="http://schemas.microsoft.com/office/drawing/2014/main" id="{F8E5048C-FFA7-4A37-02EF-CA57079F38A8}"/>
              </a:ext>
            </a:extLst>
          </p:cNvPr>
          <p:cNvSpPr txBox="1"/>
          <p:nvPr userDrawn="1"/>
        </p:nvSpPr>
        <p:spPr>
          <a:xfrm>
            <a:off x="230400" y="4874669"/>
            <a:ext cx="1242135" cy="144264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</a14:hiddenLine>
            </a:ext>
          </a:extLst>
        </p:spPr>
        <p:txBody>
          <a:bodyPr vert="horz" wrap="none" lIns="54000" tIns="0" rIns="54000" bIns="0" rtlCol="0">
            <a:spAutoFit/>
          </a:bodyPr>
          <a:lstStyle/>
          <a:p>
            <a:pPr algn="l">
              <a:lnSpc>
                <a:spcPts val="750"/>
              </a:lnSpc>
            </a:pPr>
            <a:r>
              <a:rPr kumimoji="1" lang="en-US" altLang="ja-JP" sz="700" b="0" i="0" u="none" baseline="0">
                <a:solidFill>
                  <a:srgbClr val="000000"/>
                </a:solidFill>
                <a:latin typeface="Fujitsu Infinity Pro" pitchFamily="2" charset="0"/>
                <a:sym typeface="Fujitsu Infinity Pro" pitchFamily="2" charset="0"/>
              </a:rPr>
              <a:t>FUJITSU-PUBLIC(HIDDEN)</a:t>
            </a:r>
            <a:endParaRPr kumimoji="1" lang="ja-JP" altLang="en-US" sz="700" b="0" i="0" u="none" baseline="0">
              <a:solidFill>
                <a:srgbClr val="000000"/>
              </a:solidFill>
              <a:latin typeface="Fujitsu Infinity Pro" pitchFamily="2" charset="0"/>
              <a:sym typeface="Fujitsu Infinity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68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758" r:id="rId5"/>
    <p:sldLayoutId id="2147483757" r:id="rId6"/>
    <p:sldLayoutId id="2147483876" r:id="rId7"/>
    <p:sldLayoutId id="2147483877" r:id="rId8"/>
    <p:sldLayoutId id="2147483781" r:id="rId9"/>
    <p:sldLayoutId id="2147483780" r:id="rId10"/>
    <p:sldLayoutId id="2147483878" r:id="rId11"/>
  </p:sldLayoutIdLst>
  <p:transition spd="slow">
    <p:fade/>
  </p:transition>
  <p:hf sldNum="0" hdr="0"/>
  <p:txStyles>
    <p:titleStyle>
      <a:lvl1pPr algn="l" defTabSz="685800" rtl="0" eaLnBrk="1" latinLnBrk="0" hangingPunct="1">
        <a:lnSpc>
          <a:spcPct val="100000"/>
        </a:lnSpc>
        <a:spcBef>
          <a:spcPts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0825" indent="-250825" algn="l" defTabSz="685800" rtl="0" eaLnBrk="1" latinLnBrk="0" hangingPunct="1">
        <a:lnSpc>
          <a:spcPct val="90000"/>
        </a:lnSpc>
        <a:spcBef>
          <a:spcPts val="750"/>
        </a:spcBef>
        <a:buSzPct val="120000"/>
        <a:buFont typeface="Arial" panose="020B0604020202020204" pitchFamily="34" charset="0"/>
        <a:buChar char="●"/>
        <a:defRPr sz="2200" kern="1200">
          <a:solidFill>
            <a:schemeClr val="tx1"/>
          </a:solidFill>
          <a:latin typeface="Fujitsu Infinity Pro" pitchFamily="2" charset="0"/>
          <a:ea typeface="+mn-ea"/>
          <a:cs typeface="+mn-cs"/>
        </a:defRPr>
      </a:lvl1pPr>
      <a:lvl2pPr marL="563563" indent="-220663" algn="l" defTabSz="685800" rtl="0" eaLnBrk="1" latinLnBrk="0" hangingPunct="1">
        <a:lnSpc>
          <a:spcPct val="90000"/>
        </a:lnSpc>
        <a:spcBef>
          <a:spcPts val="375"/>
        </a:spcBef>
        <a:buSzPct val="120000"/>
        <a:buFont typeface="Arial" panose="020B0604020202020204" pitchFamily="34" charset="0"/>
        <a:buChar char="●"/>
        <a:defRPr sz="2000" kern="1200">
          <a:solidFill>
            <a:schemeClr val="tx1"/>
          </a:solidFill>
          <a:latin typeface="Fujitsu Infinity Pro" pitchFamily="2" charset="0"/>
          <a:ea typeface="+mn-ea"/>
          <a:cs typeface="+mn-cs"/>
        </a:defRPr>
      </a:lvl2pPr>
      <a:lvl3pPr marL="873125" indent="-187325" algn="l" defTabSz="685800" rtl="0" eaLnBrk="1" latinLnBrk="0" hangingPunct="1">
        <a:lnSpc>
          <a:spcPct val="90000"/>
        </a:lnSpc>
        <a:spcBef>
          <a:spcPts val="375"/>
        </a:spcBef>
        <a:buSzPct val="120000"/>
        <a:buFont typeface="Arial" panose="020B0604020202020204" pitchFamily="34" charset="0"/>
        <a:buChar char="●"/>
        <a:defRPr sz="1800" kern="1200">
          <a:solidFill>
            <a:schemeClr val="tx1"/>
          </a:solidFill>
          <a:latin typeface="Fujitsu Infinity Pro" pitchFamily="2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SzPct val="120000"/>
        <a:buFont typeface="Arial" panose="020B0604020202020204" pitchFamily="34" charset="0"/>
        <a:buChar char="●"/>
        <a:defRPr sz="1600" kern="1200">
          <a:solidFill>
            <a:schemeClr val="tx1"/>
          </a:solidFill>
          <a:latin typeface="Fujitsu Infinity Pro" pitchFamily="2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SzPct val="120000"/>
        <a:buFont typeface="Arial" panose="020B0604020202020204" pitchFamily="34" charset="0"/>
        <a:buChar char="●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620" userDrawn="1">
          <p15:clr>
            <a:srgbClr val="F26B43"/>
          </p15:clr>
        </p15:guide>
        <p15:guide id="3" pos="158" userDrawn="1">
          <p15:clr>
            <a:srgbClr val="F26B43"/>
          </p15:clr>
        </p15:guide>
        <p15:guide id="4" pos="5602" userDrawn="1">
          <p15:clr>
            <a:srgbClr val="F26B43"/>
          </p15:clr>
        </p15:guide>
        <p15:guide id="5" orient="horz" pos="3064" userDrawn="1">
          <p15:clr>
            <a:srgbClr val="F26B43"/>
          </p15:clr>
        </p15:guide>
        <p15:guide id="6" orient="horz" pos="169" userDrawn="1">
          <p15:clr>
            <a:srgbClr val="F26B43"/>
          </p15:clr>
        </p15:guide>
        <p15:guide id="8" orient="horz" pos="5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C7F33-6AA7-36DE-4FDB-4CD70B073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D3B3D09-C115-53DD-794B-E2D4E7968125}"/>
              </a:ext>
            </a:extLst>
          </p:cNvPr>
          <p:cNvSpPr/>
          <p:nvPr/>
        </p:nvSpPr>
        <p:spPr>
          <a:xfrm>
            <a:off x="694944" y="534783"/>
            <a:ext cx="1591056" cy="283464"/>
          </a:xfrm>
          <a:prstGeom prst="roundRect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FEFA8-BBBD-D41C-291A-EDFA5AB858CF}"/>
              </a:ext>
            </a:extLst>
          </p:cNvPr>
          <p:cNvSpPr txBox="1"/>
          <p:nvPr/>
        </p:nvSpPr>
        <p:spPr>
          <a:xfrm>
            <a:off x="694944" y="570608"/>
            <a:ext cx="144475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Fujitsu Infinity Pro"/>
              </a:rPr>
              <a:t>ASE '26 </a:t>
            </a:r>
            <a:endParaRPr sz="1400" b="1" dirty="0">
              <a:solidFill>
                <a:srgbClr val="FFFFFF"/>
              </a:solidFill>
              <a:latin typeface="Fujitsu Infinity Pr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92E08-EFA4-F624-2B57-494E493D2B3D}"/>
              </a:ext>
            </a:extLst>
          </p:cNvPr>
          <p:cNvSpPr txBox="1"/>
          <p:nvPr/>
        </p:nvSpPr>
        <p:spPr>
          <a:xfrm>
            <a:off x="605310" y="1422437"/>
            <a:ext cx="5754901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100" b="1" dirty="0">
                <a:solidFill>
                  <a:srgbClr val="182033"/>
                </a:solidFill>
                <a:latin typeface="Fujitsu Infinity Pro"/>
              </a:rPr>
              <a:t>Kozuchi Agent</a:t>
            </a:r>
            <a:endParaRPr sz="3100" b="1" dirty="0">
              <a:solidFill>
                <a:srgbClr val="182033"/>
              </a:solidFill>
              <a:latin typeface="Fujitsu Infinity Pr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32F807-4305-C0D5-FBA6-A5B9707F89B6}"/>
              </a:ext>
            </a:extLst>
          </p:cNvPr>
          <p:cNvSpPr txBox="1"/>
          <p:nvPr/>
        </p:nvSpPr>
        <p:spPr>
          <a:xfrm>
            <a:off x="605310" y="2093277"/>
            <a:ext cx="5257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dirty="0">
                <a:solidFill>
                  <a:srgbClr val="D6007F"/>
                </a:solidFill>
                <a:latin typeface="Fujitsu Infinity Pro"/>
              </a:rPr>
              <a:t>A Language-Agnostic Open-Weight Agent</a:t>
            </a:r>
          </a:p>
          <a:p>
            <a:r>
              <a:rPr sz="1750" b="1" dirty="0">
                <a:solidFill>
                  <a:srgbClr val="D6007F"/>
                </a:solidFill>
                <a:latin typeface="Fujitsu Infinity Pro"/>
              </a:rPr>
              <a:t>for Software Repair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D8561-4AF9-FC53-CA32-8AEE8DFE6DA1}"/>
              </a:ext>
            </a:extLst>
          </p:cNvPr>
          <p:cNvSpPr txBox="1"/>
          <p:nvPr/>
        </p:nvSpPr>
        <p:spPr>
          <a:xfrm>
            <a:off x="605310" y="2912813"/>
            <a:ext cx="53035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F6878"/>
                </a:solidFill>
                <a:latin typeface="Fujitsu Infinity Pro"/>
              </a:rPr>
              <a:t>Mehdi Bahrami et al.,</a:t>
            </a:r>
          </a:p>
          <a:p>
            <a:r>
              <a:rPr sz="1400" b="0" dirty="0">
                <a:solidFill>
                  <a:srgbClr val="5F6878"/>
                </a:solidFill>
                <a:latin typeface="Fujitsu Infinity Pro"/>
              </a:rPr>
              <a:t>Fujitsu Research</a:t>
            </a:r>
            <a:r>
              <a:rPr lang="en-US" sz="1400" b="0" dirty="0">
                <a:solidFill>
                  <a:srgbClr val="5F6878"/>
                </a:solidFill>
                <a:latin typeface="Fujitsu Infinity Pro"/>
              </a:rPr>
              <a:t> of Ameria</a:t>
            </a:r>
            <a:endParaRPr sz="1400" b="0" dirty="0">
              <a:solidFill>
                <a:srgbClr val="5F6878"/>
              </a:solidFill>
              <a:latin typeface="Fujitsu Infinity Pr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979382-91E8-F195-621D-AF3527CB7781}"/>
              </a:ext>
            </a:extLst>
          </p:cNvPr>
          <p:cNvSpPr txBox="1"/>
          <p:nvPr/>
        </p:nvSpPr>
        <p:spPr>
          <a:xfrm>
            <a:off x="6748580" y="4492716"/>
            <a:ext cx="5303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878"/>
                </a:solidFill>
                <a:latin typeface="Fujitsu Infinity Pro"/>
              </a:rPr>
              <a:t>October 12–16, 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FCBA87-11CE-DA7F-8BFE-557F6EDB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30" y="3749243"/>
            <a:ext cx="1249695" cy="1275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7EB5DD-A7E0-FC22-549A-CDE52CC0D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9978" y="0"/>
            <a:ext cx="3488641" cy="104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639993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7880-C829-2CA1-821E-2C7693C1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75BDC-05CA-89CB-45DC-3DC61E76BF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2000" y="925200"/>
            <a:ext cx="8641175" cy="2677656"/>
          </a:xfrm>
        </p:spPr>
        <p:txBody>
          <a:bodyPr/>
          <a:lstStyle/>
          <a:p>
            <a:r>
              <a:rPr lang="en-US" dirty="0"/>
              <a:t>Problem statement</a:t>
            </a:r>
          </a:p>
          <a:p>
            <a:r>
              <a:rPr lang="en-US" dirty="0"/>
              <a:t>Related Works</a:t>
            </a:r>
          </a:p>
          <a:p>
            <a:r>
              <a:rPr lang="en-US" dirty="0"/>
              <a:t>Thesis and our approach</a:t>
            </a:r>
          </a:p>
          <a:p>
            <a:r>
              <a:rPr lang="en-US" dirty="0"/>
              <a:t>Evaluation results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263D18-8BD5-E283-7320-28FA064227AE}"/>
              </a:ext>
            </a:extLst>
          </p:cNvPr>
          <p:cNvSpPr txBox="1"/>
          <p:nvPr/>
        </p:nvSpPr>
        <p:spPr>
          <a:xfrm>
            <a:off x="410966" y="3313804"/>
            <a:ext cx="84810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This work reflects a multi-lab collaboration effort across Fujitsu Research teams in Japan, the United States, Europe, and China, that led to 2026 Fujitsu Research Award and an accepted paper at ASE’26, Germany.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854116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740664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Fujitsu Infinity Pro"/>
              </a:rPr>
              <a:t>Problem statement: model capability is only one failure surface</a:t>
            </a:r>
          </a:p>
        </p:txBody>
      </p:sp>
      <p:sp>
        <p:nvSpPr>
          <p:cNvPr id="3" name="ANIM_P1"/>
          <p:cNvSpPr/>
          <p:nvPr/>
        </p:nvSpPr>
        <p:spPr>
          <a:xfrm>
            <a:off x="438912" y="1024128"/>
            <a:ext cx="1984248" cy="1417320"/>
          </a:xfrm>
          <a:prstGeom prst="roundRect">
            <a:avLst/>
          </a:prstGeom>
          <a:solidFill>
            <a:srgbClr val="FDEDE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" y="1024128"/>
            <a:ext cx="54864" cy="1417320"/>
          </a:xfrm>
          <a:prstGeom prst="rect">
            <a:avLst/>
          </a:prstGeom>
          <a:solidFill>
            <a:srgbClr val="E7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21792" y="1188720"/>
            <a:ext cx="329184" cy="329184"/>
          </a:xfrm>
          <a:prstGeom prst="ellipse">
            <a:avLst/>
          </a:prstGeom>
          <a:solidFill>
            <a:srgbClr val="E7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197864"/>
            <a:ext cx="329184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1161288"/>
            <a:ext cx="1252727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82033"/>
                </a:solidFill>
                <a:latin typeface="Fujitsu Infinity Pro"/>
              </a:rPr>
              <a:t>Long-horizon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63677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F6878"/>
                </a:solidFill>
                <a:latin typeface="Fujitsu Infinity Pro"/>
              </a:rPr>
              <a:t>Agents skip reproduction, repeat analysis, or patch before understanding.</a:t>
            </a:r>
          </a:p>
        </p:txBody>
      </p:sp>
      <p:sp>
        <p:nvSpPr>
          <p:cNvPr id="9" name="ANIM_P2"/>
          <p:cNvSpPr/>
          <p:nvPr/>
        </p:nvSpPr>
        <p:spPr>
          <a:xfrm>
            <a:off x="2523744" y="1024128"/>
            <a:ext cx="1984248" cy="1417320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23744" y="1024128"/>
            <a:ext cx="54864" cy="1417320"/>
          </a:xfrm>
          <a:prstGeom prst="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706624" y="1188720"/>
            <a:ext cx="329184" cy="329184"/>
          </a:xfrm>
          <a:prstGeom prst="ellipse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06624" y="1197864"/>
            <a:ext cx="329184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161288"/>
            <a:ext cx="1252727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82033"/>
                </a:solidFill>
                <a:latin typeface="Fujitsu Infinity Pro"/>
              </a:rPr>
              <a:t>Tool-grammar drift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600200"/>
            <a:ext cx="163677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F6878"/>
                </a:solidFill>
                <a:latin typeface="Fujitsu Infinity Pro"/>
              </a:rPr>
              <a:t>A small syntax mismatch can invalidate a sound action and waste turns.</a:t>
            </a:r>
          </a:p>
        </p:txBody>
      </p:sp>
      <p:sp>
        <p:nvSpPr>
          <p:cNvPr id="15" name="ANIM_P3"/>
          <p:cNvSpPr/>
          <p:nvPr/>
        </p:nvSpPr>
        <p:spPr>
          <a:xfrm>
            <a:off x="4608576" y="1024128"/>
            <a:ext cx="1984248" cy="141732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08576" y="1024128"/>
            <a:ext cx="54864" cy="1417320"/>
          </a:xfrm>
          <a:prstGeom prst="rect">
            <a:avLst/>
          </a:prstGeom>
          <a:solidFill>
            <a:srgbClr val="167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791456" y="1188720"/>
            <a:ext cx="329184" cy="329184"/>
          </a:xfrm>
          <a:prstGeom prst="ellipse">
            <a:avLst/>
          </a:prstGeom>
          <a:solidFill>
            <a:srgbClr val="167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91456" y="1197864"/>
            <a:ext cx="329184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161288"/>
            <a:ext cx="1252727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82033"/>
                </a:solidFill>
                <a:latin typeface="Fujitsu Infinity Pro"/>
              </a:rPr>
              <a:t>Cluster heterogeneity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1600200"/>
            <a:ext cx="163677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F6878"/>
                </a:solidFill>
                <a:latin typeface="Fujitsu Infinity Pro"/>
              </a:rPr>
              <a:t>Inference, testing, and grading run on different hardware and runtimes.</a:t>
            </a:r>
          </a:p>
        </p:txBody>
      </p:sp>
      <p:sp>
        <p:nvSpPr>
          <p:cNvPr id="21" name="ANIM_P4"/>
          <p:cNvSpPr/>
          <p:nvPr/>
        </p:nvSpPr>
        <p:spPr>
          <a:xfrm>
            <a:off x="6693408" y="1024128"/>
            <a:ext cx="1984248" cy="1417320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93408" y="1024128"/>
            <a:ext cx="54864" cy="1417320"/>
          </a:xfrm>
          <a:prstGeom prst="rect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876288" y="1188720"/>
            <a:ext cx="329184" cy="329184"/>
          </a:xfrm>
          <a:prstGeom prst="ellipse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76288" y="1197864"/>
            <a:ext cx="329184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1161288"/>
            <a:ext cx="1252727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82033"/>
                </a:solidFill>
                <a:latin typeface="Fujitsu Infinity Pro"/>
              </a:rPr>
              <a:t>Evaluation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600200"/>
            <a:ext cx="163677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F6878"/>
                </a:solidFill>
                <a:latin typeface="Fujitsu Infinity Pro"/>
              </a:rPr>
              <a:t>Multi-hour runs make full recomputation too expensive for rapid iteration.</a:t>
            </a:r>
          </a:p>
        </p:txBody>
      </p:sp>
      <p:sp>
        <p:nvSpPr>
          <p:cNvPr id="27" name="ANIM_PROBLEM"/>
          <p:cNvSpPr/>
          <p:nvPr/>
        </p:nvSpPr>
        <p:spPr>
          <a:xfrm>
            <a:off x="191193" y="2898648"/>
            <a:ext cx="8811491" cy="90525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6007" y="3136392"/>
            <a:ext cx="306739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Fujitsu Infinity Pro"/>
              </a:rPr>
              <a:t>A benchmark-ready agent must be</a:t>
            </a:r>
            <a:r>
              <a:rPr lang="en-US" sz="1400" b="1" dirty="0">
                <a:solidFill>
                  <a:srgbClr val="FFFFFF"/>
                </a:solidFill>
                <a:latin typeface="Fujitsu Infinity Pro"/>
              </a:rPr>
              <a:t>:</a:t>
            </a:r>
            <a:endParaRPr sz="1400" b="1" dirty="0">
              <a:solidFill>
                <a:srgbClr val="FFFFFF"/>
              </a:solidFill>
              <a:latin typeface="Fujitsu Infinity Pr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27248" y="3090672"/>
            <a:ext cx="5102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08AFC5"/>
                </a:solidFill>
                <a:latin typeface="Fujitsu Infinity Pro"/>
              </a:rPr>
              <a:t>auditable</a:t>
            </a:r>
            <a:r>
              <a:rPr sz="2000" b="0" i="0" dirty="0">
                <a:solidFill>
                  <a:srgbClr val="FFFFFF"/>
                </a:solidFill>
                <a:latin typeface="Fujitsu Infinity Pro"/>
              </a:rPr>
              <a:t>  •  </a:t>
            </a:r>
            <a:r>
              <a:rPr sz="2000" b="1" i="0" dirty="0">
                <a:solidFill>
                  <a:srgbClr val="EF6C22"/>
                </a:solidFill>
                <a:latin typeface="Fujitsu Infinity Pro"/>
              </a:rPr>
              <a:t>recoverable</a:t>
            </a:r>
            <a:r>
              <a:rPr sz="2000" b="0" i="0" dirty="0">
                <a:solidFill>
                  <a:srgbClr val="FFFFFF"/>
                </a:solidFill>
                <a:latin typeface="Fujitsu Infinity Pro"/>
              </a:rPr>
              <a:t>  •  </a:t>
            </a:r>
            <a:r>
              <a:rPr sz="2000" b="1" i="0" dirty="0">
                <a:solidFill>
                  <a:srgbClr val="ED4B75"/>
                </a:solidFill>
                <a:latin typeface="Fujitsu Infinity Pro"/>
              </a:rPr>
              <a:t>selectable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4446A-0FAE-5B30-9C63-466AB7B2C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97229"/>
            <a:ext cx="7626405" cy="539942"/>
          </a:xfrm>
        </p:spPr>
        <p:txBody>
          <a:bodyPr/>
          <a:lstStyle/>
          <a:p>
            <a:r>
              <a:rPr lang="en-US" dirty="0"/>
              <a:t>What the Agent Must Implement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78D7D5-E5E0-42D0-A634-1C1B158B8AF3}"/>
              </a:ext>
            </a:extLst>
          </p:cNvPr>
          <p:cNvSpPr/>
          <p:nvPr/>
        </p:nvSpPr>
        <p:spPr>
          <a:xfrm>
            <a:off x="628650" y="813070"/>
            <a:ext cx="7886700" cy="4227059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B925E0-C718-AB82-D8C5-C01C530E6F49}"/>
              </a:ext>
            </a:extLst>
          </p:cNvPr>
          <p:cNvSpPr txBox="1"/>
          <p:nvPr/>
        </p:nvSpPr>
        <p:spPr>
          <a:xfrm>
            <a:off x="752094" y="915940"/>
            <a:ext cx="764667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rPr sz="1200" dirty="0"/>
              <a:t>Existing idea: `</a:t>
            </a:r>
            <a:r>
              <a:rPr sz="1200" dirty="0" err="1"/>
              <a:t>safeseq</a:t>
            </a:r>
            <a:r>
              <a:rPr sz="1200" dirty="0"/>
              <a:t>` marks each sequence element safe.</a:t>
            </a:r>
            <a:br>
              <a:rPr sz="1200" dirty="0"/>
            </a:br>
            <a:br>
              <a:rPr sz="1200" dirty="0"/>
            </a:br>
            <a:r>
              <a:rPr sz="1200" dirty="0"/>
              <a:t>New behavior: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escapeseq</a:t>
            </a:r>
            <a:r>
              <a:rPr sz="1200" dirty="0"/>
              <a:t>(value)</a:t>
            </a:r>
            <a:br>
              <a:rPr sz="1200" dirty="0"/>
            </a:br>
            <a:br>
              <a:rPr sz="1200" dirty="0"/>
            </a:br>
            <a:r>
              <a:rPr sz="1200" dirty="0"/>
              <a:t>should apply Django's escaping operation to EACH element.</a:t>
            </a:r>
            <a:br>
              <a:rPr sz="1200" dirty="0"/>
            </a:br>
            <a:br>
              <a:rPr sz="1200" dirty="0"/>
            </a:br>
            <a:r>
              <a:rPr sz="1200" dirty="0"/>
              <a:t>Conceptually:</a:t>
            </a:r>
            <a:br>
              <a:rPr sz="1200" dirty="0"/>
            </a:br>
            <a:br>
              <a:rPr sz="1200" dirty="0"/>
            </a:br>
            <a:r>
              <a:rPr sz="1200" dirty="0"/>
              <a:t>    return [</a:t>
            </a:r>
            <a:r>
              <a:rPr sz="1200" dirty="0" err="1"/>
              <a:t>conditional_escape</a:t>
            </a:r>
            <a:r>
              <a:rPr sz="1200" dirty="0"/>
              <a:t>(obj) for obj in value]</a:t>
            </a:r>
            <a:br>
              <a:rPr sz="1200" dirty="0"/>
            </a:br>
            <a:br>
              <a:rPr sz="1200" dirty="0"/>
            </a:br>
            <a:r>
              <a:rPr sz="1200" dirty="0"/>
              <a:t>Why?</a:t>
            </a:r>
            <a:br>
              <a:rPr sz="1200" dirty="0"/>
            </a:br>
            <a:r>
              <a:rPr sz="1200" dirty="0"/>
              <a:t>    `join` can combine sequence elements when template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autoescaping</a:t>
            </a:r>
            <a:r>
              <a:rPr sz="1200" dirty="0"/>
              <a:t> is disabled. `</a:t>
            </a:r>
            <a:r>
              <a:rPr sz="1200" dirty="0" err="1"/>
              <a:t>escapeseq</a:t>
            </a:r>
            <a:r>
              <a:rPr sz="1200" dirty="0"/>
              <a:t>` makes each element</a:t>
            </a:r>
            <a:br>
              <a:rPr sz="1200" dirty="0"/>
            </a:br>
            <a:r>
              <a:rPr sz="1200" dirty="0"/>
              <a:t>    safe by escaping it before the downstream `join`.</a:t>
            </a:r>
            <a:br>
              <a:rPr sz="1200" dirty="0"/>
            </a:br>
            <a:br>
              <a:rPr sz="1200" dirty="0"/>
            </a:br>
            <a:r>
              <a:rPr sz="1200" dirty="0"/>
              <a:t>Example:</a:t>
            </a:r>
            <a:br>
              <a:rPr sz="1200" dirty="0"/>
            </a:br>
            <a:r>
              <a:rPr sz="1200" dirty="0"/>
              <a:t>    ["</a:t>
            </a:r>
            <a:r>
              <a:rPr sz="1200" dirty="0" err="1"/>
              <a:t>x&amp;y</a:t>
            </a:r>
            <a:r>
              <a:rPr sz="1200" dirty="0"/>
              <a:t>", "&lt;p&gt;"]</a:t>
            </a:r>
            <a:br>
              <a:rPr sz="1200" dirty="0"/>
            </a:br>
            <a:r>
              <a:rPr sz="1200" dirty="0"/>
              <a:t>        ↓ </a:t>
            </a:r>
            <a:r>
              <a:rPr sz="1200" dirty="0" err="1"/>
              <a:t>escapeseq</a:t>
            </a:r>
            <a:br>
              <a:rPr sz="1200" dirty="0"/>
            </a:br>
            <a:r>
              <a:rPr sz="1200" dirty="0"/>
              <a:t>    ["</a:t>
            </a:r>
            <a:r>
              <a:rPr sz="1200" dirty="0" err="1"/>
              <a:t>x&amp;amp;y</a:t>
            </a:r>
            <a:r>
              <a:rPr sz="1200" dirty="0"/>
              <a:t>", "&amp;</a:t>
            </a:r>
            <a:r>
              <a:rPr sz="1200" dirty="0" err="1"/>
              <a:t>lt;p&amp;gt</a:t>
            </a:r>
            <a:r>
              <a:rPr sz="1200" dirty="0"/>
              <a:t>;"]</a:t>
            </a:r>
            <a:br>
              <a:rPr sz="1200" dirty="0"/>
            </a:br>
            <a:r>
              <a:rPr sz="1200" dirty="0"/>
              <a:t>        ↓ join:","</a:t>
            </a:r>
            <a:br>
              <a:rPr sz="1200" dirty="0"/>
            </a:br>
            <a:r>
              <a:rPr sz="1200" dirty="0"/>
              <a:t>    "</a:t>
            </a:r>
            <a:r>
              <a:rPr sz="1200" dirty="0" err="1"/>
              <a:t>x&amp;amp;y</a:t>
            </a:r>
            <a:r>
              <a:rPr sz="1200" dirty="0"/>
              <a:t>,&amp;</a:t>
            </a:r>
            <a:r>
              <a:rPr sz="1200" dirty="0" err="1"/>
              <a:t>lt;p&amp;gt</a:t>
            </a:r>
            <a:r>
              <a:rPr sz="1200" dirty="0"/>
              <a:t>;"</a:t>
            </a:r>
            <a:br>
              <a:rPr sz="1200" dirty="0"/>
            </a:b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3654337791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4B9B9-99DD-063F-C23D-A6527151C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97229"/>
            <a:ext cx="7626405" cy="539942"/>
          </a:xfrm>
        </p:spPr>
        <p:txBody>
          <a:bodyPr/>
          <a:lstStyle/>
          <a:p>
            <a:r>
              <a:rPr lang="en-US" dirty="0"/>
              <a:t>Actual Regression Tests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190EB2-CE9C-4915-820B-B24C4EF368D6}"/>
              </a:ext>
            </a:extLst>
          </p:cNvPr>
          <p:cNvSpPr/>
          <p:nvPr/>
        </p:nvSpPr>
        <p:spPr>
          <a:xfrm>
            <a:off x="628650" y="823345"/>
            <a:ext cx="7886700" cy="4097976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2525C6-0D7C-F67A-489A-3CBCE6DA3067}"/>
              </a:ext>
            </a:extLst>
          </p:cNvPr>
          <p:cNvSpPr txBox="1"/>
          <p:nvPr/>
        </p:nvSpPr>
        <p:spPr>
          <a:xfrm>
            <a:off x="752094" y="926214"/>
            <a:ext cx="764667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latin typeface="Courier New"/>
              </a:defRPr>
            </a:pPr>
            <a:r>
              <a:rPr sz="1400" dirty="0"/>
              <a:t>class </a:t>
            </a:r>
            <a:r>
              <a:rPr sz="1400" dirty="0" err="1"/>
              <a:t>EscapeseqTests</a:t>
            </a:r>
            <a:r>
              <a:rPr sz="1400" dirty="0"/>
              <a:t>(</a:t>
            </a:r>
            <a:r>
              <a:rPr sz="1400" dirty="0" err="1"/>
              <a:t>SimpleTestCase</a:t>
            </a:r>
            <a:r>
              <a:rPr sz="1400" dirty="0"/>
              <a:t>):</a:t>
            </a:r>
            <a:br>
              <a:rPr sz="1400" dirty="0"/>
            </a:br>
            <a:r>
              <a:rPr sz="1400" dirty="0"/>
              <a:t>    # representative ground-truth cases</a:t>
            </a:r>
            <a:br>
              <a:rPr sz="1400" dirty="0"/>
            </a:br>
            <a:br>
              <a:rPr sz="1400" dirty="0"/>
            </a:br>
            <a:r>
              <a:rPr sz="1400" dirty="0"/>
              <a:t>    </a:t>
            </a:r>
            <a:r>
              <a:rPr sz="1400" dirty="0" err="1"/>
              <a:t>test_basic</a:t>
            </a:r>
            <a:br>
              <a:rPr sz="1400" dirty="0"/>
            </a:br>
            <a:r>
              <a:rPr sz="1400" dirty="0"/>
              <a:t>        ["&amp;", "&lt;"] → "&amp;amp;, &amp;</a:t>
            </a:r>
            <a:r>
              <a:rPr sz="1400" dirty="0" err="1"/>
              <a:t>lt</a:t>
            </a:r>
            <a:r>
              <a:rPr sz="1400" dirty="0"/>
              <a:t>;"</a:t>
            </a:r>
            <a:br>
              <a:rPr sz="1400" dirty="0"/>
            </a:br>
            <a:br>
              <a:rPr sz="1400" dirty="0"/>
            </a:br>
            <a:r>
              <a:rPr sz="1400" dirty="0"/>
              <a:t>    </a:t>
            </a:r>
            <a:r>
              <a:rPr sz="1400" dirty="0" err="1"/>
              <a:t>test_autoescape_off</a:t>
            </a:r>
            <a:br>
              <a:rPr sz="1400" dirty="0"/>
            </a:br>
            <a:r>
              <a:rPr sz="1400" dirty="0"/>
              <a:t>        {% </a:t>
            </a:r>
            <a:r>
              <a:rPr sz="1400" dirty="0" err="1"/>
              <a:t>autoescape</a:t>
            </a:r>
            <a:r>
              <a:rPr sz="1400" dirty="0"/>
              <a:t> off %}</a:t>
            </a:r>
            <a:br>
              <a:rPr sz="1400" dirty="0"/>
            </a:br>
            <a:r>
              <a:rPr sz="1400" dirty="0"/>
              <a:t>        {{ </a:t>
            </a:r>
            <a:r>
              <a:rPr sz="1400" dirty="0" err="1"/>
              <a:t>a|escapeseq|join</a:t>
            </a:r>
            <a:r>
              <a:rPr sz="1400" dirty="0"/>
              <a:t>:", " }}</a:t>
            </a:r>
            <a:br>
              <a:rPr sz="1400" dirty="0"/>
            </a:br>
            <a:r>
              <a:rPr sz="1400" dirty="0"/>
              <a:t>        {% </a:t>
            </a:r>
            <a:r>
              <a:rPr sz="1400" dirty="0" err="1"/>
              <a:t>endautoescape</a:t>
            </a:r>
            <a:r>
              <a:rPr sz="1400" dirty="0"/>
              <a:t> %}</a:t>
            </a:r>
            <a:br>
              <a:rPr sz="1400" dirty="0"/>
            </a:br>
            <a:r>
              <a:rPr sz="1400" dirty="0"/>
              <a:t>        → "&amp;amp;, &amp;</a:t>
            </a:r>
            <a:r>
              <a:rPr sz="1400" dirty="0" err="1"/>
              <a:t>lt</a:t>
            </a:r>
            <a:r>
              <a:rPr sz="1400" dirty="0"/>
              <a:t>;"</a:t>
            </a:r>
            <a:br>
              <a:rPr sz="1400" dirty="0"/>
            </a:br>
            <a:br>
              <a:rPr sz="1400" dirty="0"/>
            </a:br>
            <a:r>
              <a:rPr sz="1400" dirty="0"/>
              <a:t>    </a:t>
            </a:r>
            <a:r>
              <a:rPr sz="1400" dirty="0" err="1"/>
              <a:t>test_chain_join</a:t>
            </a:r>
            <a:br>
              <a:rPr sz="1400" dirty="0"/>
            </a:br>
            <a:r>
              <a:rPr sz="1400" dirty="0"/>
              <a:t>        verifies </a:t>
            </a:r>
            <a:r>
              <a:rPr sz="1400" dirty="0" err="1"/>
              <a:t>escapeseq</a:t>
            </a:r>
            <a:r>
              <a:rPr sz="1400" dirty="0"/>
              <a:t> works before join</a:t>
            </a:r>
            <a:br>
              <a:rPr sz="1400" dirty="0"/>
            </a:br>
            <a:br>
              <a:rPr sz="1400" dirty="0"/>
            </a:br>
            <a:r>
              <a:rPr sz="1400" dirty="0"/>
              <a:t>    </a:t>
            </a:r>
            <a:r>
              <a:rPr sz="1400" dirty="0" err="1"/>
              <a:t>test_chain_join_autoescape_off</a:t>
            </a:r>
            <a:br>
              <a:rPr sz="1400" dirty="0"/>
            </a:br>
            <a:r>
              <a:rPr sz="1400" dirty="0"/>
              <a:t>        ["</a:t>
            </a:r>
            <a:r>
              <a:rPr sz="1400" dirty="0" err="1"/>
              <a:t>x&amp;y</a:t>
            </a:r>
            <a:r>
              <a:rPr sz="1400" dirty="0"/>
              <a:t>", "&lt;p&gt;"]</a:t>
            </a:r>
            <a:br>
              <a:rPr sz="1400" dirty="0"/>
            </a:br>
            <a:r>
              <a:rPr sz="1400" dirty="0"/>
              <a:t>        → "</a:t>
            </a:r>
            <a:r>
              <a:rPr sz="1400" dirty="0" err="1"/>
              <a:t>x&amp;amp;y</a:t>
            </a:r>
            <a:r>
              <a:rPr sz="1400" dirty="0"/>
              <a:t>&lt;</a:t>
            </a:r>
            <a:r>
              <a:rPr sz="1400" dirty="0" err="1"/>
              <a:t>br</a:t>
            </a:r>
            <a:r>
              <a:rPr sz="1400" dirty="0"/>
              <a:t>/&gt;&amp;</a:t>
            </a:r>
            <a:r>
              <a:rPr sz="1400" dirty="0" err="1"/>
              <a:t>lt;p&amp;gt</a:t>
            </a:r>
            <a:r>
              <a:rPr sz="1400" dirty="0"/>
              <a:t>;"</a:t>
            </a:r>
            <a:br>
              <a:rPr sz="1400" dirty="0"/>
            </a:b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881691775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740664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Fujitsu Infinity Pro"/>
              </a:rPr>
              <a:t>Repository-level repair is a systems problem, not a code-completion task</a:t>
            </a:r>
          </a:p>
        </p:txBody>
      </p:sp>
      <p:sp>
        <p:nvSpPr>
          <p:cNvPr id="3" name="ANIM_REPO_STAGE_1"/>
          <p:cNvSpPr/>
          <p:nvPr/>
        </p:nvSpPr>
        <p:spPr>
          <a:xfrm>
            <a:off x="448056" y="1124712"/>
            <a:ext cx="138074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7784" y="1307592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74457"/>
                </a:solidFill>
                <a:latin typeface="Fujitsu Infinity Pro"/>
              </a:rPr>
              <a:t>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82496"/>
            <a:ext cx="117957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natural-language
report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74519" y="1627632"/>
            <a:ext cx="210312" cy="219456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NIM_REPO_STAGE_2"/>
          <p:cNvSpPr/>
          <p:nvPr/>
        </p:nvSpPr>
        <p:spPr>
          <a:xfrm>
            <a:off x="2130552" y="1124712"/>
            <a:ext cx="138074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6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40280" y="1307592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6C22"/>
                </a:solidFill>
                <a:latin typeface="Fujitsu Infinity Pro"/>
              </a:rPr>
              <a:t>Reproduce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1136" y="1682496"/>
            <a:ext cx="117957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observable
failure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57016" y="1627632"/>
            <a:ext cx="210312" cy="219456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_REPO_STAGE_3"/>
          <p:cNvSpPr/>
          <p:nvPr/>
        </p:nvSpPr>
        <p:spPr>
          <a:xfrm>
            <a:off x="3813048" y="1124712"/>
            <a:ext cx="138074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B6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22776" y="1307592"/>
            <a:ext cx="11612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chemeClr val="accent2"/>
                </a:solidFill>
                <a:latin typeface="Fujitsu Infinity Pro"/>
              </a:rPr>
              <a:t>Localize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1682496"/>
            <a:ext cx="117957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root cause
in a repository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39512" y="1627632"/>
            <a:ext cx="210312" cy="219456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_REPO_STAGE_4"/>
          <p:cNvSpPr/>
          <p:nvPr/>
        </p:nvSpPr>
        <p:spPr>
          <a:xfrm>
            <a:off x="5495544" y="1124712"/>
            <a:ext cx="138074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7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05272" y="1307592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74EA"/>
                </a:solidFill>
                <a:latin typeface="Fujitsu Infinity Pro"/>
              </a:rPr>
              <a:t>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1682496"/>
            <a:ext cx="117957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minimal
code change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22008" y="1627632"/>
            <a:ext cx="210312" cy="219456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REPO_STAGE_5"/>
          <p:cNvSpPr/>
          <p:nvPr/>
        </p:nvSpPr>
        <p:spPr>
          <a:xfrm>
            <a:off x="7178040" y="1124712"/>
            <a:ext cx="138074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9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87768" y="1307592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9D7A"/>
                </a:solidFill>
                <a:latin typeface="Fujitsu Infinity Pro"/>
              </a:rPr>
              <a:t>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1682496"/>
            <a:ext cx="117957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fix bug +
preserve behavior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" y="2706624"/>
            <a:ext cx="8229600" cy="694944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" y="2898648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Fujitsu Infinity Pro"/>
              </a:rPr>
              <a:t>Resolved = </a:t>
            </a:r>
            <a:r>
              <a:rPr sz="1500" b="1" i="0">
                <a:solidFill>
                  <a:srgbClr val="08AFC5"/>
                </a:solidFill>
                <a:latin typeface="Fujitsu Infinity Pro"/>
              </a:rPr>
              <a:t>issue-revealing tests pass</a:t>
            </a:r>
            <a:r>
              <a:rPr sz="1300" b="1" i="0">
                <a:solidFill>
                  <a:srgbClr val="FFFFFF"/>
                </a:solidFill>
                <a:latin typeface="Fujitsu Infinity Pro"/>
              </a:rPr>
              <a:t>  AND  </a:t>
            </a:r>
            <a:r>
              <a:rPr sz="1500" b="1" i="0">
                <a:solidFill>
                  <a:srgbClr val="EF6C22"/>
                </a:solidFill>
                <a:latin typeface="Fujitsu Infinity Pro"/>
              </a:rPr>
              <a:t>existing regression tests still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29" y="3711571"/>
            <a:ext cx="283833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82033"/>
                </a:solidFill>
                <a:latin typeface="Fujitsu Infinity Pro"/>
              </a:rPr>
              <a:t>Failure surfaces span the whole path: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07792" y="3685032"/>
            <a:ext cx="950976" cy="283464"/>
          </a:xfrm>
          <a:prstGeom prst="roundRect">
            <a:avLst/>
          </a:prstGeom>
          <a:solidFill>
            <a:srgbClr val="E7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80944" y="3694176"/>
            <a:ext cx="8046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Fujitsu Infinity Pro"/>
              </a:rPr>
              <a:t>REASONING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05072" y="3685032"/>
            <a:ext cx="950976" cy="283464"/>
          </a:xfrm>
          <a:prstGeom prst="round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78224" y="3694176"/>
            <a:ext cx="8046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Fujitsu Infinity Pro"/>
              </a:rPr>
              <a:t>TOOL USE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02352" y="3685032"/>
            <a:ext cx="950976" cy="283464"/>
          </a:xfrm>
          <a:prstGeom prst="roundRect">
            <a:avLst/>
          </a:prstGeom>
          <a:solidFill>
            <a:srgbClr val="167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75504" y="3694176"/>
            <a:ext cx="8046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Fujitsu Infinity Pro"/>
              </a:rPr>
              <a:t>CONTEXT STATE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1" y="3685032"/>
            <a:ext cx="950976" cy="283464"/>
          </a:xfrm>
          <a:prstGeom prst="roundRect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72783" y="3694176"/>
            <a:ext cx="8046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Fujitsu Infinity Pro"/>
              </a:rPr>
              <a:t>ENVIRONMENT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6912" y="3685032"/>
            <a:ext cx="950976" cy="283464"/>
          </a:xfrm>
          <a:prstGeom prst="roundRect">
            <a:avLst/>
          </a:prstGeom>
          <a:solidFill>
            <a:srgbClr val="0A9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70064" y="3694176"/>
            <a:ext cx="8046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Fujitsu Infinity Pro"/>
              </a:rPr>
              <a:t>SELECTION</a:t>
            </a:r>
          </a:p>
        </p:txBody>
      </p:sp>
    </p:spTree>
    <p:extLst>
      <p:ext uri="{BB962C8B-B14F-4D97-AF65-F5344CB8AC3E}">
        <p14:creationId xmlns:p14="http://schemas.microsoft.com/office/powerpoint/2010/main" val="764426560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740664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Fujitsu Infinity Pro"/>
              </a:rPr>
              <a:t>Related work: four lines of research shape the design space</a:t>
            </a:r>
          </a:p>
        </p:txBody>
      </p:sp>
      <p:sp>
        <p:nvSpPr>
          <p:cNvPr id="3" name="ANIM_RW_1"/>
          <p:cNvSpPr/>
          <p:nvPr/>
        </p:nvSpPr>
        <p:spPr>
          <a:xfrm>
            <a:off x="475488" y="1005840"/>
            <a:ext cx="3931920" cy="1426464"/>
          </a:xfrm>
          <a:prstGeom prst="roundRect">
            <a:avLst/>
          </a:prstGeom>
          <a:solidFill>
            <a:srgbClr val="FDEDEF"/>
          </a:solidFill>
          <a:ln w="12700">
            <a:solidFill>
              <a:srgbClr val="E7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61288"/>
            <a:ext cx="350215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82033"/>
                </a:solidFill>
                <a:latin typeface="Fujitsu Infinity Pro"/>
              </a:rPr>
              <a:t>Agentic repair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3502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74457"/>
                </a:solidFill>
                <a:latin typeface="Fujitsu Infinity Pro"/>
              </a:rPr>
              <a:t>SWE-agent • OpenHands • AutoCodeRover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37944"/>
            <a:ext cx="350215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878"/>
                </a:solidFill>
                <a:latin typeface="Fujitsu Infinity Pro"/>
              </a:rPr>
              <a:t>Flexible shell-based reasoning and acting over repositories.</a:t>
            </a:r>
          </a:p>
        </p:txBody>
      </p:sp>
      <p:sp>
        <p:nvSpPr>
          <p:cNvPr id="7" name="ANIM_RW_2"/>
          <p:cNvSpPr/>
          <p:nvPr/>
        </p:nvSpPr>
        <p:spPr>
          <a:xfrm>
            <a:off x="4654296" y="1005840"/>
            <a:ext cx="3931920" cy="1426464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EF6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64608" y="1161288"/>
            <a:ext cx="350215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82033"/>
                </a:solidFill>
                <a:latin typeface="Fujitsu Infinity Pro"/>
              </a:rPr>
              <a:t>Structured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4608" y="1508760"/>
            <a:ext cx="3502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F6C22"/>
                </a:solidFill>
                <a:latin typeface="Fujitsu Infinity Pro"/>
              </a:rPr>
              <a:t>AGENTLESS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8" y="1837944"/>
            <a:ext cx="350215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878"/>
                </a:solidFill>
                <a:latin typeface="Fujitsu Infinity Pro"/>
              </a:rPr>
              <a:t>Localization–fix–verify decomposition reduces open-ended search.</a:t>
            </a:r>
          </a:p>
        </p:txBody>
      </p:sp>
      <p:sp>
        <p:nvSpPr>
          <p:cNvPr id="11" name="ANIM_RW_3"/>
          <p:cNvSpPr/>
          <p:nvPr/>
        </p:nvSpPr>
        <p:spPr>
          <a:xfrm>
            <a:off x="475488" y="2679192"/>
            <a:ext cx="3931920" cy="1426464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167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834640"/>
            <a:ext cx="350215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82033"/>
                </a:solidFill>
                <a:latin typeface="Fujitsu Infinity Pro"/>
              </a:rPr>
              <a:t>Test-time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82112"/>
            <a:ext cx="3502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74EA"/>
                </a:solidFill>
                <a:latin typeface="Fujitsu Infinity Pro"/>
              </a:rPr>
              <a:t>CodeT • R2E-Gym • BEST@K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11296"/>
            <a:ext cx="350215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878"/>
                </a:solidFill>
                <a:latin typeface="Fujitsu Infinity Pro"/>
              </a:rPr>
              <a:t>Generated tests or verifiers rank multiple candidate solutions.</a:t>
            </a:r>
          </a:p>
        </p:txBody>
      </p:sp>
      <p:sp>
        <p:nvSpPr>
          <p:cNvPr id="15" name="ANIM_RW_4"/>
          <p:cNvSpPr/>
          <p:nvPr/>
        </p:nvSpPr>
        <p:spPr>
          <a:xfrm>
            <a:off x="4654296" y="2679192"/>
            <a:ext cx="3931920" cy="1426464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6C4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64608" y="2834640"/>
            <a:ext cx="350215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82033"/>
                </a:solidFill>
                <a:latin typeface="Fujitsu Infinity Pro"/>
              </a:rPr>
              <a:t>Industry coding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3182112"/>
            <a:ext cx="3502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C4CF6"/>
                </a:solidFill>
                <a:latin typeface="Fujitsu Infinity Pro"/>
              </a:rPr>
              <a:t>Copilot • Q Developer • Jules • Codex • Devin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3511296"/>
            <a:ext cx="350215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878"/>
                </a:solidFill>
                <a:latin typeface="Fujitsu Infinity Pro"/>
              </a:rPr>
              <a:t>Product systems demonstrate demand for asynchronous issue-to-patch agents.</a:t>
            </a: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475488"/>
            <a:ext cx="841248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84632"/>
            <a:ext cx="69494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6007F"/>
                </a:solidFill>
                <a:latin typeface="Fujitsu Infinity Pro"/>
              </a:rPr>
              <a:t>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74066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FFFFFF"/>
                </a:solidFill>
                <a:latin typeface="Fujitsu Infinity Pro"/>
              </a:rPr>
              <a:t>The next performance gain
came from the harness—not the weights.</a:t>
            </a:r>
          </a:p>
        </p:txBody>
      </p:sp>
      <p:sp>
        <p:nvSpPr>
          <p:cNvPr id="5" name="ANIM_GAIN"/>
          <p:cNvSpPr txBox="1"/>
          <p:nvPr/>
        </p:nvSpPr>
        <p:spPr>
          <a:xfrm>
            <a:off x="751863" y="1819607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>
                <a:solidFill>
                  <a:srgbClr val="FFFFFF"/>
                </a:solidFill>
                <a:latin typeface="Fujitsu Infinity Pro"/>
              </a:rPr>
              <a:t>+7.1 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690" y="241854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FFFFFF"/>
                </a:solidFill>
                <a:latin typeface="Fujitsu Infinity Pro"/>
              </a:rPr>
              <a:t>vs. mean pass@1</a:t>
            </a:r>
          </a:p>
        </p:txBody>
      </p:sp>
      <p:sp>
        <p:nvSpPr>
          <p:cNvPr id="7" name="ANIM_PROOF"/>
          <p:cNvSpPr txBox="1"/>
          <p:nvPr/>
        </p:nvSpPr>
        <p:spPr>
          <a:xfrm>
            <a:off x="4729942" y="2016667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>
                <a:solidFill>
                  <a:srgbClr val="FFFFFF"/>
                </a:solidFill>
                <a:latin typeface="Fujitsu Infinity Pro"/>
              </a:rPr>
              <a:t>27B</a:t>
            </a:r>
            <a:r>
              <a:rPr sz="1500" b="0" i="0" dirty="0">
                <a:solidFill>
                  <a:srgbClr val="FFFFFF"/>
                </a:solidFill>
                <a:latin typeface="Fujitsu Infinity Pro"/>
              </a:rPr>
              <a:t>  •  no fine-tuning  •  no learned verifier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9942" y="2547019"/>
            <a:ext cx="48006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Fujitsu Infinity Pro"/>
              </a:rPr>
              <a:t>Execution evidence selects among diverse candidate trajectories.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285881-9A4C-C8F3-DBB0-D13468C3EC06}"/>
              </a:ext>
            </a:extLst>
          </p:cNvPr>
          <p:cNvCxnSpPr/>
          <p:nvPr/>
        </p:nvCxnSpPr>
        <p:spPr>
          <a:xfrm>
            <a:off x="4729942" y="4613564"/>
            <a:ext cx="2942705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6A6A6A-00ED-81C1-4AB6-4B8982411A00}"/>
              </a:ext>
            </a:extLst>
          </p:cNvPr>
          <p:cNvCxnSpPr>
            <a:cxnSpLocks/>
          </p:cNvCxnSpPr>
          <p:nvPr/>
        </p:nvCxnSpPr>
        <p:spPr>
          <a:xfrm flipV="1">
            <a:off x="4882342" y="3063903"/>
            <a:ext cx="0" cy="170206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647E7B-D31B-450C-BC60-33225FD37913}"/>
              </a:ext>
            </a:extLst>
          </p:cNvPr>
          <p:cNvCxnSpPr>
            <a:cxnSpLocks/>
          </p:cNvCxnSpPr>
          <p:nvPr/>
        </p:nvCxnSpPr>
        <p:spPr>
          <a:xfrm flipV="1">
            <a:off x="5054138" y="3524596"/>
            <a:ext cx="2044931" cy="980902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C9A9580-0FA1-E561-8D1F-FE7C07738AD2}"/>
              </a:ext>
            </a:extLst>
          </p:cNvPr>
          <p:cNvSpPr txBox="1"/>
          <p:nvPr/>
        </p:nvSpPr>
        <p:spPr>
          <a:xfrm>
            <a:off x="6513833" y="4654177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Models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0CBBEB-8370-C9BE-EAB0-84DE1B4DDA1F}"/>
              </a:ext>
            </a:extLst>
          </p:cNvPr>
          <p:cNvSpPr txBox="1"/>
          <p:nvPr/>
        </p:nvSpPr>
        <p:spPr>
          <a:xfrm rot="5400000">
            <a:off x="3672641" y="3800623"/>
            <a:ext cx="1593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Performance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A5D5D2-029B-A98D-41CD-8664DCEE906C}"/>
              </a:ext>
            </a:extLst>
          </p:cNvPr>
          <p:cNvSpPr txBox="1"/>
          <p:nvPr/>
        </p:nvSpPr>
        <p:spPr>
          <a:xfrm>
            <a:off x="7047355" y="3372197"/>
            <a:ext cx="14141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Target</a:t>
            </a:r>
          </a:p>
          <a:p>
            <a:r>
              <a:rPr lang="en-US" dirty="0">
                <a:solidFill>
                  <a:schemeClr val="accent3"/>
                </a:solidFill>
              </a:rPr>
              <a:t>Benchmark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A31002D-D26A-6CE0-BD50-115EB5DD4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2" y="2617645"/>
            <a:ext cx="2662997" cy="2539784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AF8916-5EA8-AB4F-1994-191655B4C27A}"/>
              </a:ext>
            </a:extLst>
          </p:cNvPr>
          <p:cNvCxnSpPr>
            <a:cxnSpLocks/>
          </p:cNvCxnSpPr>
          <p:nvPr/>
        </p:nvCxnSpPr>
        <p:spPr>
          <a:xfrm flipV="1">
            <a:off x="987552" y="3063903"/>
            <a:ext cx="0" cy="921386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CD3ADA7-C7D5-473D-7AAC-701639458546}"/>
              </a:ext>
            </a:extLst>
          </p:cNvPr>
          <p:cNvSpPr txBox="1"/>
          <p:nvPr/>
        </p:nvSpPr>
        <p:spPr>
          <a:xfrm>
            <a:off x="2630168" y="4895819"/>
            <a:ext cx="27747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https://</a:t>
            </a:r>
            <a:r>
              <a:rPr lang="en-US" sz="1050" dirty="0" err="1">
                <a:solidFill>
                  <a:schemeClr val="bg1">
                    <a:lumMod val="85000"/>
                  </a:schemeClr>
                </a:solidFill>
              </a:rPr>
              <a:t>openai.com</a:t>
            </a: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/index/gpt-6-astra</a:t>
            </a:r>
          </a:p>
        </p:txBody>
      </p:sp>
    </p:spTree>
    <p:extLst>
      <p:ext uri="{BB962C8B-B14F-4D97-AF65-F5344CB8AC3E}">
        <p14:creationId xmlns:p14="http://schemas.microsoft.com/office/powerpoint/2010/main" val="334329794"/>
      </p:ext>
    </p:extLst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740664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Fujitsu Infinity Pro"/>
              </a:rPr>
              <a:t>Positioning: scale inference with execution evidence, not extra training</a:t>
            </a:r>
          </a:p>
        </p:txBody>
      </p:sp>
      <p:sp>
        <p:nvSpPr>
          <p:cNvPr id="3" name="ANIM_GAP_1"/>
          <p:cNvSpPr/>
          <p:nvPr/>
        </p:nvSpPr>
        <p:spPr>
          <a:xfrm>
            <a:off x="484632" y="1042415"/>
            <a:ext cx="2496312" cy="1874519"/>
          </a:xfrm>
          <a:prstGeom prst="roundRect">
            <a:avLst/>
          </a:prstGeom>
          <a:solidFill>
            <a:srgbClr val="FDEDE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4358" y="1225629"/>
            <a:ext cx="54864" cy="1549189"/>
          </a:xfrm>
          <a:prstGeom prst="rect">
            <a:avLst/>
          </a:prstGeom>
          <a:solidFill>
            <a:srgbClr val="E7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179575"/>
            <a:ext cx="2167127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2033"/>
                </a:solidFill>
                <a:latin typeface="Fujitsu Infinity Pro"/>
              </a:rPr>
              <a:t>Model customization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18488"/>
            <a:ext cx="2148840" cy="118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Fine-tuning can improve capability, but adds data, training, and model-maintenance cost.</a:t>
            </a:r>
          </a:p>
        </p:txBody>
      </p:sp>
      <p:sp>
        <p:nvSpPr>
          <p:cNvPr id="7" name="ANIM_GAP_2"/>
          <p:cNvSpPr/>
          <p:nvPr/>
        </p:nvSpPr>
        <p:spPr>
          <a:xfrm>
            <a:off x="3319272" y="1042415"/>
            <a:ext cx="2496312" cy="1874519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08998" y="1225629"/>
            <a:ext cx="54864" cy="1549189"/>
          </a:xfrm>
          <a:prstGeom prst="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179575"/>
            <a:ext cx="2167127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2033"/>
                </a:solidFill>
                <a:latin typeface="Fujitsu Infinity Pro"/>
              </a:rPr>
              <a:t>Learned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618488"/>
            <a:ext cx="2148840" cy="118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Specialized reward models or LLM judges add another model and another failure surface.</a:t>
            </a:r>
          </a:p>
        </p:txBody>
      </p:sp>
      <p:sp>
        <p:nvSpPr>
          <p:cNvPr id="11" name="ANIM_GAP_3"/>
          <p:cNvSpPr/>
          <p:nvPr/>
        </p:nvSpPr>
        <p:spPr>
          <a:xfrm>
            <a:off x="6153912" y="1042415"/>
            <a:ext cx="2496312" cy="1874519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43638" y="1225629"/>
            <a:ext cx="54864" cy="1549189"/>
          </a:xfrm>
          <a:prstGeom prst="rect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179575"/>
            <a:ext cx="2167128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2033"/>
                </a:solidFill>
                <a:latin typeface="Fujitsu Infinity Pro"/>
              </a:rPr>
              <a:t>Single trajectory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18488"/>
            <a:ext cx="2148840" cy="118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One long attempt is fragile: early mistakes propagate and useful diversity is discarded.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85799" y="3236976"/>
            <a:ext cx="7406640" cy="365760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33271" y="3703319"/>
            <a:ext cx="6428233" cy="58521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50706" y="3858768"/>
            <a:ext cx="609134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FFFFFF"/>
                </a:solidFill>
                <a:latin typeface="Fujitsu Infinity Pro"/>
              </a:rPr>
              <a:t>Our target: training-free • model-free selection • auditable test-time scaling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740664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Fujitsu Infinity Pro"/>
              </a:rPr>
              <a:t>Design goal: turn an open-ended repair into a controlled workflow</a:t>
            </a:r>
          </a:p>
        </p:txBody>
      </p:sp>
      <p:sp>
        <p:nvSpPr>
          <p:cNvPr id="3" name="ANIM_G1"/>
          <p:cNvSpPr/>
          <p:nvPr/>
        </p:nvSpPr>
        <p:spPr>
          <a:xfrm>
            <a:off x="512064" y="1143000"/>
            <a:ext cx="1865376" cy="2011680"/>
          </a:xfrm>
          <a:prstGeom prst="roundRect">
            <a:avLst/>
          </a:prstGeom>
          <a:solidFill>
            <a:srgbClr val="FDEDE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2064" y="1338116"/>
            <a:ext cx="54864" cy="1662545"/>
          </a:xfrm>
          <a:prstGeom prst="rect">
            <a:avLst/>
          </a:prstGeom>
          <a:solidFill>
            <a:srgbClr val="E7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94944" y="1307592"/>
            <a:ext cx="329184" cy="329184"/>
          </a:xfrm>
          <a:prstGeom prst="ellipse">
            <a:avLst/>
          </a:prstGeom>
          <a:solidFill>
            <a:srgbClr val="E7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316736"/>
            <a:ext cx="329184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280160"/>
            <a:ext cx="1133855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2033"/>
                </a:solidFill>
                <a:latin typeface="Fujitsu Infinity Pro"/>
              </a:rPr>
              <a:t>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19072"/>
            <a:ext cx="1517904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878"/>
                </a:solidFill>
                <a:latin typeface="Fujitsu Infinity Pro"/>
              </a:rPr>
              <a:t>Explicit phases and fallback edges</a:t>
            </a:r>
          </a:p>
        </p:txBody>
      </p:sp>
      <p:sp>
        <p:nvSpPr>
          <p:cNvPr id="9" name="ANIM_G2"/>
          <p:cNvSpPr/>
          <p:nvPr/>
        </p:nvSpPr>
        <p:spPr>
          <a:xfrm>
            <a:off x="2596896" y="1143000"/>
            <a:ext cx="1865376" cy="2011680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96896" y="1338116"/>
            <a:ext cx="54864" cy="1662545"/>
          </a:xfrm>
          <a:prstGeom prst="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779776" y="1307592"/>
            <a:ext cx="329184" cy="329184"/>
          </a:xfrm>
          <a:prstGeom prst="ellipse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79776" y="1316736"/>
            <a:ext cx="329184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280160"/>
            <a:ext cx="1133855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2033"/>
                </a:solidFill>
                <a:latin typeface="Fujitsu Infinity Pro"/>
              </a:rPr>
              <a:t>Persist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4" y="1719072"/>
            <a:ext cx="1517904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878"/>
                </a:solidFill>
                <a:latin typeface="Fujitsu Infinity Pro"/>
              </a:rPr>
              <a:t>Filesystem-backed evidence and handovers</a:t>
            </a:r>
          </a:p>
        </p:txBody>
      </p:sp>
      <p:sp>
        <p:nvSpPr>
          <p:cNvPr id="15" name="ANIM_G3"/>
          <p:cNvSpPr/>
          <p:nvPr/>
        </p:nvSpPr>
        <p:spPr>
          <a:xfrm>
            <a:off x="4681727" y="1143000"/>
            <a:ext cx="1865376" cy="20116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81727" y="1338116"/>
            <a:ext cx="54864" cy="1662545"/>
          </a:xfrm>
          <a:prstGeom prst="rect">
            <a:avLst/>
          </a:prstGeom>
          <a:solidFill>
            <a:srgbClr val="167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64607" y="1307592"/>
            <a:ext cx="329184" cy="329184"/>
          </a:xfrm>
          <a:prstGeom prst="ellipse">
            <a:avLst/>
          </a:prstGeom>
          <a:solidFill>
            <a:srgbClr val="167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64607" y="1316736"/>
            <a:ext cx="329184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1" y="1280160"/>
            <a:ext cx="1133855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2033"/>
                </a:solidFill>
                <a:latin typeface="Fujitsu Infinity Pro"/>
              </a:rPr>
              <a:t>Normalize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5" y="1719072"/>
            <a:ext cx="1517904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878"/>
                </a:solidFill>
                <a:latin typeface="Fujitsu Infinity Pro"/>
              </a:rPr>
              <a:t>One action contract across model families</a:t>
            </a:r>
          </a:p>
        </p:txBody>
      </p:sp>
      <p:sp>
        <p:nvSpPr>
          <p:cNvPr id="21" name="ANIM_G4"/>
          <p:cNvSpPr/>
          <p:nvPr/>
        </p:nvSpPr>
        <p:spPr>
          <a:xfrm>
            <a:off x="6766560" y="1143000"/>
            <a:ext cx="1865376" cy="2011680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66560" y="1338116"/>
            <a:ext cx="54864" cy="1662545"/>
          </a:xfrm>
          <a:prstGeom prst="rect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949440" y="1307592"/>
            <a:ext cx="329184" cy="329184"/>
          </a:xfrm>
          <a:prstGeom prst="ellipse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0" y="1316736"/>
            <a:ext cx="329184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0064" y="1280160"/>
            <a:ext cx="1133855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2033"/>
                </a:solidFill>
                <a:latin typeface="Fujitsu Infinity Pro"/>
              </a:rPr>
              <a:t>Select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1719072"/>
            <a:ext cx="1517904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878"/>
                </a:solidFill>
                <a:latin typeface="Fujitsu Infinity Pro"/>
              </a:rPr>
              <a:t>Cross-test candidates using execution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60120" y="3575304"/>
            <a:ext cx="7178040" cy="338328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977639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F6878"/>
                </a:solidFill>
                <a:latin typeface="Fujitsu Infinity Pro"/>
              </a:rPr>
              <a:t>issue description + repository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977639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6007F"/>
                </a:solidFill>
                <a:latin typeface="Fujitsu Infinity Pro"/>
              </a:rPr>
              <a:t>auditable, test-passing patch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04400"/>
            <a:ext cx="74066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Fujitsu Infinity Pro"/>
              </a:rPr>
              <a:t>Our approach: engineer the harness</a:t>
            </a:r>
          </a:p>
        </p:txBody>
      </p:sp>
      <p:sp>
        <p:nvSpPr>
          <p:cNvPr id="3" name="ANIM_CONTRIB_1"/>
          <p:cNvSpPr/>
          <p:nvPr/>
        </p:nvSpPr>
        <p:spPr>
          <a:xfrm>
            <a:off x="466344" y="1033271"/>
            <a:ext cx="1874519" cy="2487168"/>
          </a:xfrm>
          <a:prstGeom prst="roundRect">
            <a:avLst/>
          </a:prstGeom>
          <a:solidFill>
            <a:srgbClr val="FDEDEF"/>
          </a:solidFill>
          <a:ln w="12700">
            <a:solidFill>
              <a:srgbClr val="E7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0936" y="1225296"/>
            <a:ext cx="429768" cy="429768"/>
          </a:xfrm>
          <a:prstGeom prst="ellipse">
            <a:avLst/>
          </a:prstGeom>
          <a:solidFill>
            <a:srgbClr val="E7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1325880"/>
            <a:ext cx="4297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Fujitsu Infinity Pro"/>
              </a:rPr>
              <a:t>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810512"/>
            <a:ext cx="154533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2033"/>
                </a:solidFill>
                <a:latin typeface="Fujitsu Infinity Pro"/>
              </a:rPr>
              <a:t>Phase-driven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2423160"/>
            <a:ext cx="1545336" cy="832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Eight phases, persistent handovers, normalized actions, and deterministic tools.</a:t>
            </a:r>
          </a:p>
        </p:txBody>
      </p:sp>
      <p:sp>
        <p:nvSpPr>
          <p:cNvPr id="8" name="ANIM_CONTRIB_2"/>
          <p:cNvSpPr/>
          <p:nvPr/>
        </p:nvSpPr>
        <p:spPr>
          <a:xfrm>
            <a:off x="2551176" y="1033271"/>
            <a:ext cx="1874519" cy="248716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167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715768" y="1225296"/>
            <a:ext cx="429768" cy="429768"/>
          </a:xfrm>
          <a:prstGeom prst="ellipse">
            <a:avLst/>
          </a:prstGeom>
          <a:solidFill>
            <a:srgbClr val="167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15768" y="1325880"/>
            <a:ext cx="4297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Fujitsu Infinity Pro"/>
              </a:rPr>
              <a:t>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1810512"/>
            <a:ext cx="154533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2033"/>
                </a:solidFill>
                <a:latin typeface="Fujitsu Infinity Pro"/>
              </a:rPr>
              <a:t>Reusable CI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2423160"/>
            <a:ext cx="1545336" cy="832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Candidate generation, grading, selection, and reporting across heterogeneous clusters.</a:t>
            </a:r>
          </a:p>
        </p:txBody>
      </p:sp>
      <p:sp>
        <p:nvSpPr>
          <p:cNvPr id="13" name="ANIM_CONTRIB_3"/>
          <p:cNvSpPr/>
          <p:nvPr/>
        </p:nvSpPr>
        <p:spPr>
          <a:xfrm>
            <a:off x="4636007" y="1033271"/>
            <a:ext cx="1874519" cy="2487168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6C4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00599" y="1225296"/>
            <a:ext cx="429768" cy="429768"/>
          </a:xfrm>
          <a:prstGeom prst="ellipse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599" y="1325880"/>
            <a:ext cx="4297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Fujitsu Infinity Pro"/>
              </a:rPr>
              <a:t>C3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599" y="1810512"/>
            <a:ext cx="154533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2033"/>
                </a:solidFill>
                <a:latin typeface="Fujitsu Infinity Pro"/>
              </a:rPr>
              <a:t>Cross-agent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599" y="2423160"/>
            <a:ext cx="1545336" cy="832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Each run contributes a patch and tests; all usable tests are cross-applied.</a:t>
            </a:r>
          </a:p>
        </p:txBody>
      </p:sp>
      <p:sp>
        <p:nvSpPr>
          <p:cNvPr id="18" name="ANIM_CONTRIB_4"/>
          <p:cNvSpPr/>
          <p:nvPr/>
        </p:nvSpPr>
        <p:spPr>
          <a:xfrm>
            <a:off x="6720840" y="1033271"/>
            <a:ext cx="1874519" cy="2487168"/>
          </a:xfrm>
          <a:prstGeom prst="roundRect">
            <a:avLst/>
          </a:prstGeom>
          <a:solidFill>
            <a:srgbClr val="EAF8F4"/>
          </a:solidFill>
          <a:ln w="12700">
            <a:solidFill>
              <a:srgbClr val="0A9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885431" y="1225296"/>
            <a:ext cx="429768" cy="429768"/>
          </a:xfrm>
          <a:prstGeom prst="ellipse">
            <a:avLst/>
          </a:prstGeom>
          <a:solidFill>
            <a:srgbClr val="0A9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1" y="1325880"/>
            <a:ext cx="4297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Fujitsu Infinity Pro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1" y="1810512"/>
            <a:ext cx="154533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2033"/>
                </a:solidFill>
                <a:latin typeface="Fujitsu Infinity Pro"/>
              </a:rPr>
              <a:t>Evidence and diagnosis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1" y="2423160"/>
            <a:ext cx="1545336" cy="832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Official accuracy, selector ablations, reliability, and failure-mode analysis.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" y="3822191"/>
            <a:ext cx="7159752" cy="521207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25296" y="3941063"/>
            <a:ext cx="6684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Fujitsu Infinity Pro"/>
              </a:rPr>
              <a:t>One model configuration → auditable trajectories → execution-grounded selection → one patch</a:t>
            </a: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740664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Fujitsu Infinity Pro"/>
              </a:rPr>
              <a:t>Solution overview: one harness, two scales of control</a:t>
            </a:r>
          </a:p>
        </p:txBody>
      </p:sp>
      <p:sp>
        <p:nvSpPr>
          <p:cNvPr id="3" name="ANIM_ARCH"/>
          <p:cNvSpPr/>
          <p:nvPr/>
        </p:nvSpPr>
        <p:spPr>
          <a:xfrm>
            <a:off x="393192" y="896112"/>
            <a:ext cx="8339327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overall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42" y="985358"/>
            <a:ext cx="7736441" cy="3497395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740664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Fujitsu Infinity Pro"/>
              </a:rPr>
              <a:t>Method I: define the agent as an explicit runtime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23544"/>
            <a:ext cx="8138160" cy="53949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60704"/>
            <a:ext cx="76809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8AFC5"/>
                </a:solidFill>
                <a:latin typeface="Fujitsu Infinity Pro"/>
              </a:rPr>
              <a:t>R</a:t>
            </a:r>
            <a:r>
              <a:rPr sz="1800" b="0" i="0">
                <a:solidFill>
                  <a:srgbClr val="FFFFFF"/>
                </a:solidFill>
                <a:latin typeface="Fujitsu Infinity Pro"/>
              </a:rPr>
              <a:t> = ⟨ </a:t>
            </a:r>
            <a:r>
              <a:rPr sz="1800" b="1" i="0">
                <a:solidFill>
                  <a:srgbClr val="E74457"/>
                </a:solidFill>
                <a:latin typeface="Fujitsu Infinity Pro"/>
              </a:rPr>
              <a:t>P</a:t>
            </a:r>
            <a:r>
              <a:rPr sz="1800" b="0" i="0">
                <a:solidFill>
                  <a:srgbClr val="FFFFFF"/>
                </a:solidFill>
                <a:latin typeface="Fujitsu Infinity Pro"/>
              </a:rPr>
              <a:t>, </a:t>
            </a:r>
            <a:r>
              <a:rPr sz="1800" b="1" i="0">
                <a:solidFill>
                  <a:srgbClr val="EF6C22"/>
                </a:solidFill>
                <a:latin typeface="Fujitsu Infinity Pro"/>
              </a:rPr>
              <a:t>S</a:t>
            </a:r>
            <a:r>
              <a:rPr sz="1800" b="0" i="0">
                <a:solidFill>
                  <a:srgbClr val="FFFFFF"/>
                </a:solidFill>
                <a:latin typeface="Fujitsu Infinity Pro"/>
              </a:rPr>
              <a:t>, </a:t>
            </a:r>
            <a:r>
              <a:rPr sz="1800" b="1" i="0">
                <a:solidFill>
                  <a:srgbClr val="F3B61F"/>
                </a:solidFill>
                <a:latin typeface="Fujitsu Infinity Pro"/>
              </a:rPr>
              <a:t>T</a:t>
            </a:r>
            <a:r>
              <a:rPr sz="1800" b="0" i="0">
                <a:solidFill>
                  <a:srgbClr val="FFFFFF"/>
                </a:solidFill>
                <a:latin typeface="Fujitsu Infinity Pro"/>
              </a:rPr>
              <a:t>, </a:t>
            </a:r>
            <a:r>
              <a:rPr sz="1800" b="1" i="0">
                <a:solidFill>
                  <a:srgbClr val="1674EA"/>
                </a:solidFill>
                <a:latin typeface="Fujitsu Infinity Pro"/>
              </a:rPr>
              <a:t>A</a:t>
            </a:r>
            <a:r>
              <a:rPr sz="1800" b="0" i="0">
                <a:solidFill>
                  <a:srgbClr val="FFFFFF"/>
                </a:solidFill>
                <a:latin typeface="Fujitsu Infinity Pro"/>
              </a:rPr>
              <a:t>, </a:t>
            </a:r>
            <a:r>
              <a:rPr sz="1800" b="1" i="0">
                <a:solidFill>
                  <a:srgbClr val="6C4CF6"/>
                </a:solidFill>
                <a:latin typeface="Fujitsu Infinity Pro"/>
              </a:rPr>
              <a:t>F</a:t>
            </a:r>
            <a:r>
              <a:rPr sz="1800" b="0" i="0">
                <a:solidFill>
                  <a:srgbClr val="FFFFFF"/>
                </a:solidFill>
                <a:latin typeface="Fujitsu Infinity Pro"/>
              </a:rPr>
              <a:t>, </a:t>
            </a:r>
            <a:r>
              <a:rPr sz="1800" b="1" i="0">
                <a:solidFill>
                  <a:srgbClr val="0A9D7A"/>
                </a:solidFill>
                <a:latin typeface="Fujitsu Infinity Pro"/>
              </a:rPr>
              <a:t>H</a:t>
            </a:r>
            <a:r>
              <a:rPr sz="1800" b="0" i="0">
                <a:solidFill>
                  <a:srgbClr val="FFFFFF"/>
                </a:solidFill>
                <a:latin typeface="Fujitsu Infinity Pro"/>
              </a:rPr>
              <a:t> ⟩</a:t>
            </a:r>
          </a:p>
        </p:txBody>
      </p:sp>
      <p:sp>
        <p:nvSpPr>
          <p:cNvPr id="5" name="ANIM_CONTRACT_1"/>
          <p:cNvSpPr/>
          <p:nvPr/>
        </p:nvSpPr>
        <p:spPr>
          <a:xfrm>
            <a:off x="502920" y="1746504"/>
            <a:ext cx="2523744" cy="996696"/>
          </a:xfrm>
          <a:prstGeom prst="roundRect">
            <a:avLst/>
          </a:prstGeom>
          <a:solidFill>
            <a:srgbClr val="FDEDEF"/>
          </a:solidFill>
          <a:ln w="12700">
            <a:solidFill>
              <a:srgbClr val="E7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58368" y="1947672"/>
            <a:ext cx="393192" cy="393192"/>
          </a:xfrm>
          <a:prstGeom prst="ellipse">
            <a:avLst/>
          </a:prstGeom>
          <a:solidFill>
            <a:srgbClr val="E7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029967"/>
            <a:ext cx="39319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01952"/>
            <a:ext cx="1627632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82033"/>
                </a:solidFill>
                <a:latin typeface="Fujitsu Infinity Pro"/>
              </a:rPr>
              <a:t>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31136"/>
            <a:ext cx="1627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878"/>
                </a:solidFill>
                <a:latin typeface="Fujitsu Infinity Pro"/>
              </a:rPr>
              <a:t>local goals + explicit transitions</a:t>
            </a:r>
          </a:p>
        </p:txBody>
      </p:sp>
      <p:sp>
        <p:nvSpPr>
          <p:cNvPr id="10" name="ANIM_CONTRACT_2"/>
          <p:cNvSpPr/>
          <p:nvPr/>
        </p:nvSpPr>
        <p:spPr>
          <a:xfrm>
            <a:off x="3255263" y="1746504"/>
            <a:ext cx="2523744" cy="996696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EF6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10711" y="1947672"/>
            <a:ext cx="393192" cy="393192"/>
          </a:xfrm>
          <a:prstGeom prst="ellipse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0711" y="2029967"/>
            <a:ext cx="39319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1063" y="1901952"/>
            <a:ext cx="1627632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82033"/>
                </a:solidFill>
                <a:latin typeface="Fujitsu Infinity Pro"/>
              </a:rPr>
              <a:t>Shared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1063" y="2231136"/>
            <a:ext cx="1627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878"/>
                </a:solidFill>
                <a:latin typeface="Fujitsu Infinity Pro"/>
              </a:rPr>
              <a:t>tests, traces, notes, and diffs</a:t>
            </a:r>
          </a:p>
        </p:txBody>
      </p:sp>
      <p:sp>
        <p:nvSpPr>
          <p:cNvPr id="15" name="ANIM_CONTRACT_3"/>
          <p:cNvSpPr/>
          <p:nvPr/>
        </p:nvSpPr>
        <p:spPr>
          <a:xfrm>
            <a:off x="6007607" y="1746504"/>
            <a:ext cx="2523744" cy="996696"/>
          </a:xfrm>
          <a:prstGeom prst="roundRect">
            <a:avLst/>
          </a:prstGeom>
          <a:solidFill>
            <a:srgbClr val="FFF8DF"/>
          </a:solidFill>
          <a:ln w="12700">
            <a:solidFill>
              <a:srgbClr val="F3B6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63055" y="1947672"/>
            <a:ext cx="393192" cy="393192"/>
          </a:xfrm>
          <a:prstGeom prst="ellipse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63055" y="2029967"/>
            <a:ext cx="39319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7" y="1901952"/>
            <a:ext cx="1627632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82033"/>
                </a:solidFill>
                <a:latin typeface="Fujitsu Infinity Pro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7" y="2231136"/>
            <a:ext cx="1627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878"/>
                </a:solidFill>
                <a:latin typeface="Fujitsu Infinity Pro"/>
              </a:rPr>
              <a:t>fixed deterministic operations</a:t>
            </a:r>
          </a:p>
        </p:txBody>
      </p:sp>
      <p:sp>
        <p:nvSpPr>
          <p:cNvPr id="20" name="ANIM_CONTRACT_4"/>
          <p:cNvSpPr/>
          <p:nvPr/>
        </p:nvSpPr>
        <p:spPr>
          <a:xfrm>
            <a:off x="502920" y="2944368"/>
            <a:ext cx="2523744" cy="996696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167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8368" y="3145536"/>
            <a:ext cx="393192" cy="393192"/>
          </a:xfrm>
          <a:prstGeom prst="ellipse">
            <a:avLst/>
          </a:prstGeom>
          <a:solidFill>
            <a:srgbClr val="167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227832"/>
            <a:ext cx="39319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099815"/>
            <a:ext cx="1627632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82033"/>
                </a:solidFill>
                <a:latin typeface="Fujitsu Infinity Pro"/>
              </a:rPr>
              <a:t>Action format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429000"/>
            <a:ext cx="1627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878"/>
                </a:solidFill>
                <a:latin typeface="Fujitsu Infinity Pro"/>
              </a:rPr>
              <a:t>one logical command per turn</a:t>
            </a:r>
          </a:p>
        </p:txBody>
      </p:sp>
      <p:sp>
        <p:nvSpPr>
          <p:cNvPr id="25" name="ANIM_CONTRACT_5"/>
          <p:cNvSpPr/>
          <p:nvPr/>
        </p:nvSpPr>
        <p:spPr>
          <a:xfrm>
            <a:off x="3255263" y="2944368"/>
            <a:ext cx="2523744" cy="996696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6C4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410711" y="3145536"/>
            <a:ext cx="393192" cy="393192"/>
          </a:xfrm>
          <a:prstGeom prst="ellipse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10711" y="3227832"/>
            <a:ext cx="39319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1063" y="3099815"/>
            <a:ext cx="1627632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82033"/>
                </a:solidFill>
                <a:latin typeface="Fujitsu Infinity Pro"/>
              </a:rPr>
              <a:t>Parser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41063" y="3429000"/>
            <a:ext cx="1627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878"/>
                </a:solidFill>
                <a:latin typeface="Fujitsu Infinity Pro"/>
              </a:rPr>
              <a:t>record malformed actions explicitly</a:t>
            </a:r>
          </a:p>
        </p:txBody>
      </p:sp>
      <p:sp>
        <p:nvSpPr>
          <p:cNvPr id="30" name="ANIM_CONTRACT_6"/>
          <p:cNvSpPr/>
          <p:nvPr/>
        </p:nvSpPr>
        <p:spPr>
          <a:xfrm>
            <a:off x="6007607" y="2944368"/>
            <a:ext cx="2523744" cy="996696"/>
          </a:xfrm>
          <a:prstGeom prst="roundRect">
            <a:avLst/>
          </a:prstGeom>
          <a:solidFill>
            <a:srgbClr val="EAF8F4"/>
          </a:solidFill>
          <a:ln w="12700">
            <a:solidFill>
              <a:srgbClr val="0A9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163055" y="3145536"/>
            <a:ext cx="393192" cy="393192"/>
          </a:xfrm>
          <a:prstGeom prst="ellipse">
            <a:avLst/>
          </a:prstGeom>
          <a:solidFill>
            <a:srgbClr val="0A9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63055" y="3227832"/>
            <a:ext cx="39319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3407" y="3099815"/>
            <a:ext cx="1627632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82033"/>
                </a:solidFill>
                <a:latin typeface="Fujitsu Infinity Pro"/>
              </a:rPr>
              <a:t>Handover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7" y="3429000"/>
            <a:ext cx="162763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878"/>
                </a:solidFill>
                <a:latin typeface="Fujitsu Infinity Pro"/>
              </a:rPr>
              <a:t>compress evidence across phases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242816"/>
            <a:ext cx="8138160" cy="338328"/>
          </a:xfrm>
          <a:prstGeom prst="roundRect">
            <a:avLst/>
          </a:prstGeom>
          <a:solidFill>
            <a:srgbClr val="EAFBFD"/>
          </a:solidFill>
          <a:ln w="12700">
            <a:solidFill>
              <a:srgbClr val="08A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8097" y="4331188"/>
            <a:ext cx="7644383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182033"/>
                </a:solidFill>
                <a:latin typeface="Fujitsu Infinity Pro"/>
              </a:rPr>
              <a:t>The configuration declares the contract before execution; trajectories become auditable against it.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04400"/>
            <a:ext cx="74066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Fujitsu Infinity Pro"/>
              </a:rPr>
              <a:t>Method: one action → one auditable state update per turn</a:t>
            </a:r>
          </a:p>
        </p:txBody>
      </p:sp>
      <p:sp>
        <p:nvSpPr>
          <p:cNvPr id="3" name="ANIM_TURN_1"/>
          <p:cNvSpPr/>
          <p:nvPr/>
        </p:nvSpPr>
        <p:spPr>
          <a:xfrm>
            <a:off x="438912" y="1133856"/>
            <a:ext cx="1197864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59" y="1307592"/>
            <a:ext cx="420624" cy="420624"/>
          </a:xfrm>
          <a:prstGeom prst="ellipse">
            <a:avLst/>
          </a:prstGeom>
          <a:solidFill>
            <a:srgbClr val="E7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399032"/>
            <a:ext cx="42062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Fujitsu Infinity Pr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856231"/>
            <a:ext cx="101498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82033"/>
                </a:solidFill>
                <a:latin typeface="Fujitsu Infinity Pro"/>
              </a:rPr>
              <a:t>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2157984"/>
            <a:ext cx="103327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F6878"/>
                </a:solidFill>
                <a:latin typeface="Fujitsu Infinity Pro"/>
              </a:rPr>
              <a:t>phase + skills
+ shared state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664208" y="1709928"/>
            <a:ext cx="155448" cy="201168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NIM_TURN_2"/>
          <p:cNvSpPr/>
          <p:nvPr/>
        </p:nvSpPr>
        <p:spPr>
          <a:xfrm>
            <a:off x="1856232" y="1133856"/>
            <a:ext cx="1197864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6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240280" y="1307592"/>
            <a:ext cx="420624" cy="420624"/>
          </a:xfrm>
          <a:prstGeom prst="ellipse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40280" y="1399032"/>
            <a:ext cx="42062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Fujitsu Infinity Pr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1856231"/>
            <a:ext cx="101498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82033"/>
                </a:solidFill>
                <a:latin typeface="Fujitsu Infinity Pro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2157984"/>
            <a:ext cx="103327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F6878"/>
                </a:solidFill>
                <a:latin typeface="Fujitsu Infinity Pro"/>
              </a:rPr>
              <a:t>draft next
repair action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81528" y="1709928"/>
            <a:ext cx="155448" cy="201168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_TURN_3"/>
          <p:cNvSpPr/>
          <p:nvPr/>
        </p:nvSpPr>
        <p:spPr>
          <a:xfrm>
            <a:off x="3273552" y="1133856"/>
            <a:ext cx="1197864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B6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0" y="1307592"/>
            <a:ext cx="420624" cy="420624"/>
          </a:xfrm>
          <a:prstGeom prst="ellipse">
            <a:avLst/>
          </a:prstGeom>
          <a:solidFill>
            <a:srgbClr val="F3B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0" y="1399032"/>
            <a:ext cx="42062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Fujitsu Infinity Pr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1856231"/>
            <a:ext cx="101498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82033"/>
                </a:solidFill>
                <a:latin typeface="Fujitsu Infinity Pro"/>
              </a:rPr>
              <a:t>Parse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157984"/>
            <a:ext cx="103327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F6878"/>
                </a:solidFill>
                <a:latin typeface="Fujitsu Infinity Pro"/>
              </a:rPr>
              <a:t>enforce one
action grammar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498848" y="1709928"/>
            <a:ext cx="155448" cy="201168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IM_TURN_4"/>
          <p:cNvSpPr/>
          <p:nvPr/>
        </p:nvSpPr>
        <p:spPr>
          <a:xfrm>
            <a:off x="4690872" y="1133856"/>
            <a:ext cx="1197864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7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074920" y="1307592"/>
            <a:ext cx="420624" cy="420624"/>
          </a:xfrm>
          <a:prstGeom prst="ellipse">
            <a:avLst/>
          </a:prstGeom>
          <a:solidFill>
            <a:srgbClr val="167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74920" y="1399032"/>
            <a:ext cx="42062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Fujitsu Infinity Pr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1856231"/>
            <a:ext cx="101498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82033"/>
                </a:solidFill>
                <a:latin typeface="Fujitsu Infinity Pro"/>
              </a:rPr>
              <a:t>Execute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2157984"/>
            <a:ext cx="1115567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5F6878"/>
                </a:solidFill>
                <a:latin typeface="Fujitsu Infinity Pro"/>
              </a:rPr>
              <a:t>sandbox command
or tool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16168" y="1709928"/>
            <a:ext cx="155448" cy="201168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ANIM_TURN_5"/>
          <p:cNvSpPr/>
          <p:nvPr/>
        </p:nvSpPr>
        <p:spPr>
          <a:xfrm>
            <a:off x="6108192" y="1133856"/>
            <a:ext cx="1197864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4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92240" y="1307592"/>
            <a:ext cx="420624" cy="420624"/>
          </a:xfrm>
          <a:prstGeom prst="ellipse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399032"/>
            <a:ext cx="42062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Fujitsu Infinity Pr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1" y="1856231"/>
            <a:ext cx="101498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82033"/>
                </a:solidFill>
                <a:latin typeface="Fujitsu Infinity Pro"/>
              </a:rPr>
              <a:t>Persist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0488" y="2157984"/>
            <a:ext cx="103327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F6878"/>
                </a:solidFill>
                <a:latin typeface="Fujitsu Infinity Pro"/>
              </a:rPr>
              <a:t>observation +
artifacts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333488" y="1709928"/>
            <a:ext cx="155448" cy="201168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NIM_TURN_6"/>
          <p:cNvSpPr/>
          <p:nvPr/>
        </p:nvSpPr>
        <p:spPr>
          <a:xfrm>
            <a:off x="7525512" y="1133856"/>
            <a:ext cx="1197864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9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909560" y="1307592"/>
            <a:ext cx="420624" cy="420624"/>
          </a:xfrm>
          <a:prstGeom prst="ellipse">
            <a:avLst/>
          </a:prstGeom>
          <a:solidFill>
            <a:srgbClr val="0A9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09560" y="1399032"/>
            <a:ext cx="42062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Fujitsu Infinity Pro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6952" y="1856231"/>
            <a:ext cx="101498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82033"/>
                </a:solidFill>
                <a:latin typeface="Fujitsu Infinity Pro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2803" y="2169273"/>
            <a:ext cx="1152143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5F6878"/>
                </a:solidFill>
                <a:latin typeface="Fujitsu Infinity Pro"/>
              </a:rPr>
              <a:t>continue, compress,
or hand over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" y="2990088"/>
            <a:ext cx="7790688" cy="475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7824" y="3099816"/>
            <a:ext cx="738835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FFFFFF"/>
                </a:solidFill>
                <a:latin typeface="Fujitsu Infinity Pro"/>
              </a:rPr>
              <a:t>Format error? record it—do not execute.     Over budget? compress into shared state.     </a:t>
            </a:r>
            <a:endParaRPr lang="en-US" sz="1050" b="1" dirty="0">
              <a:solidFill>
                <a:srgbClr val="FFFFFF"/>
              </a:solidFill>
              <a:latin typeface="Fujitsu Infinity Pro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FFFFFF"/>
                </a:solidFill>
                <a:latin typeface="Fujitsu Infinity Pro"/>
              </a:rPr>
              <a:t>Phase exit? write a handover.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7242048" y="3785615"/>
            <a:ext cx="676656" cy="292608"/>
          </a:xfrm>
          <a:prstGeom prst="rightArrow">
            <a:avLst/>
          </a:prstGeom>
          <a:solidFill>
            <a:srgbClr val="0A9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27848" y="3794760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A9D7A"/>
                </a:solidFill>
                <a:latin typeface="Fujitsu Infinity Pro"/>
              </a:rPr>
              <a:t>next phase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207007" y="3785615"/>
            <a:ext cx="6007607" cy="292608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048256" y="4087368"/>
            <a:ext cx="449884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F6878"/>
                </a:solidFill>
                <a:latin typeface="Fujitsu Infinity Pro"/>
              </a:rPr>
              <a:t>same phase: observation returns to the next rendered turn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81290"/>
            <a:ext cx="740664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1" dirty="0">
                <a:solidFill>
                  <a:srgbClr val="FFFFFF"/>
                </a:solidFill>
                <a:latin typeface="Fujitsu Infinity Pro"/>
              </a:rPr>
              <a:t>Kozuchi SWE Harness: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FFFFFF"/>
                </a:solidFill>
                <a:latin typeface="Fujitsu Infinity Pro"/>
              </a:rPr>
              <a:t>Eight explicit phases make long repairs auditable and </a:t>
            </a:r>
            <a:r>
              <a:rPr sz="1700" b="1" dirty="0" err="1">
                <a:solidFill>
                  <a:srgbClr val="FFFFFF"/>
                </a:solidFill>
                <a:latin typeface="Fujitsu Infinity Pro"/>
              </a:rPr>
              <a:t>restartable</a:t>
            </a:r>
            <a:endParaRPr sz="1700" b="1" dirty="0">
              <a:solidFill>
                <a:srgbClr val="FFFFFF"/>
              </a:solidFill>
              <a:latin typeface="Fujitsu Infinity Pro"/>
            </a:endParaRPr>
          </a:p>
        </p:txBody>
      </p:sp>
      <p:sp>
        <p:nvSpPr>
          <p:cNvPr id="3" name="ANIM_PHASE_1"/>
          <p:cNvSpPr/>
          <p:nvPr/>
        </p:nvSpPr>
        <p:spPr>
          <a:xfrm>
            <a:off x="393192" y="1417320"/>
            <a:ext cx="93268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1545336"/>
            <a:ext cx="731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E74457"/>
                </a:solidFill>
                <a:latin typeface="Fujitsu Infinity Pr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1847088"/>
            <a:ext cx="7863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033"/>
                </a:solidFill>
                <a:latin typeface="Fujitsu Infinity Pro"/>
              </a:rPr>
              <a:t>Reproduce
issue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344168" y="1874519"/>
            <a:ext cx="109728" cy="228600"/>
          </a:xfrm>
          <a:prstGeom prst="rightArrow">
            <a:avLst/>
          </a:prstGeom>
          <a:solidFill>
            <a:srgbClr val="5F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NIM_PHASE_2"/>
          <p:cNvSpPr/>
          <p:nvPr/>
        </p:nvSpPr>
        <p:spPr>
          <a:xfrm>
            <a:off x="1472184" y="1417320"/>
            <a:ext cx="93268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6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768" y="1545336"/>
            <a:ext cx="731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6C22"/>
                </a:solidFill>
                <a:latin typeface="Fujitsu Infinity Pr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5336" y="1847088"/>
            <a:ext cx="7863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033"/>
                </a:solidFill>
                <a:latin typeface="Fujitsu Infinity Pro"/>
              </a:rPr>
              <a:t>Synthesize
failing tests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23160" y="1874519"/>
            <a:ext cx="109728" cy="228600"/>
          </a:xfrm>
          <a:prstGeom prst="rightArrow">
            <a:avLst/>
          </a:prstGeom>
          <a:solidFill>
            <a:srgbClr val="5F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_PHASE_3"/>
          <p:cNvSpPr/>
          <p:nvPr/>
        </p:nvSpPr>
        <p:spPr>
          <a:xfrm>
            <a:off x="2551176" y="1417320"/>
            <a:ext cx="93268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B6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1545336"/>
            <a:ext cx="731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B61F"/>
                </a:solidFill>
                <a:latin typeface="Fujitsu Infinity Pr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1847088"/>
            <a:ext cx="7863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033"/>
                </a:solidFill>
                <a:latin typeface="Fujitsu Infinity Pro"/>
              </a:rPr>
              <a:t>Localize
code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02152" y="1874519"/>
            <a:ext cx="109728" cy="228600"/>
          </a:xfrm>
          <a:prstGeom prst="rightArrow">
            <a:avLst/>
          </a:prstGeom>
          <a:solidFill>
            <a:srgbClr val="5F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_PHASE_4"/>
          <p:cNvSpPr/>
          <p:nvPr/>
        </p:nvSpPr>
        <p:spPr>
          <a:xfrm>
            <a:off x="3630168" y="1417320"/>
            <a:ext cx="93268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A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30752" y="1545336"/>
            <a:ext cx="731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AFC5"/>
                </a:solidFill>
                <a:latin typeface="Fujitsu Infinity Pr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847088"/>
            <a:ext cx="7863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033"/>
                </a:solidFill>
                <a:latin typeface="Fujitsu Infinity Pro"/>
              </a:rPr>
              <a:t>Localize
regression tests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581144" y="1874519"/>
            <a:ext cx="109728" cy="228600"/>
          </a:xfrm>
          <a:prstGeom prst="rightArrow">
            <a:avLst/>
          </a:prstGeom>
          <a:solidFill>
            <a:srgbClr val="5F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PHASE_5"/>
          <p:cNvSpPr/>
          <p:nvPr/>
        </p:nvSpPr>
        <p:spPr>
          <a:xfrm>
            <a:off x="4709159" y="1417320"/>
            <a:ext cx="93268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7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9744" y="1545336"/>
            <a:ext cx="731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74EA"/>
                </a:solidFill>
                <a:latin typeface="Fujitsu Infinity Pro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1847088"/>
            <a:ext cx="7863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033"/>
                </a:solidFill>
                <a:latin typeface="Fujitsu Infinity Pro"/>
              </a:rPr>
              <a:t>Implement
fix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660136" y="1874519"/>
            <a:ext cx="109728" cy="228600"/>
          </a:xfrm>
          <a:prstGeom prst="rightArrow">
            <a:avLst/>
          </a:prstGeom>
          <a:solidFill>
            <a:srgbClr val="5F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NIM_PHASE_6"/>
          <p:cNvSpPr/>
          <p:nvPr/>
        </p:nvSpPr>
        <p:spPr>
          <a:xfrm>
            <a:off x="5788151" y="1417320"/>
            <a:ext cx="93268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4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88736" y="1545336"/>
            <a:ext cx="731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C4CF6"/>
                </a:solidFill>
                <a:latin typeface="Fujitsu Infinity Pro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61303" y="1847088"/>
            <a:ext cx="7863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033"/>
                </a:solidFill>
                <a:latin typeface="Fujitsu Infinity Pro"/>
              </a:rPr>
              <a:t>Verify
patch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739127" y="1874519"/>
            <a:ext cx="109728" cy="228600"/>
          </a:xfrm>
          <a:prstGeom prst="rightArrow">
            <a:avLst/>
          </a:prstGeom>
          <a:solidFill>
            <a:srgbClr val="5F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ANIM_PHASE_7"/>
          <p:cNvSpPr/>
          <p:nvPr/>
        </p:nvSpPr>
        <p:spPr>
          <a:xfrm>
            <a:off x="6867144" y="1417320"/>
            <a:ext cx="93268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9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67728" y="1545336"/>
            <a:ext cx="731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9D7A"/>
                </a:solidFill>
                <a:latin typeface="Fujitsu Infinity Pro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0296" y="1847088"/>
            <a:ext cx="7863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033"/>
                </a:solidFill>
                <a:latin typeface="Fujitsu Infinity Pro"/>
              </a:rPr>
              <a:t>Clean up
+ review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818120" y="1874519"/>
            <a:ext cx="109728" cy="228600"/>
          </a:xfrm>
          <a:prstGeom prst="rightArrow">
            <a:avLst/>
          </a:prstGeom>
          <a:solidFill>
            <a:srgbClr val="5F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NIM_PHASE_8"/>
          <p:cNvSpPr/>
          <p:nvPr/>
        </p:nvSpPr>
        <p:spPr>
          <a:xfrm>
            <a:off x="7946136" y="1417320"/>
            <a:ext cx="93268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19" y="1545336"/>
            <a:ext cx="731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6007F"/>
                </a:solidFill>
                <a:latin typeface="Fujitsu Infinity Pro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9288" y="1847088"/>
            <a:ext cx="7863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2033"/>
                </a:solidFill>
                <a:latin typeface="Fujitsu Infinity Pro"/>
              </a:rPr>
              <a:t>Final
report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1820" y="3058235"/>
            <a:ext cx="2561787" cy="227584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6C4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36008" y="3082679"/>
            <a:ext cx="2415483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6C4CF6"/>
                </a:solidFill>
                <a:latin typeface="Fujitsu Infinity Pro"/>
              </a:rPr>
              <a:t>late-stage failure → repair loop</a:t>
            </a:r>
          </a:p>
        </p:txBody>
      </p:sp>
      <p:sp>
        <p:nvSpPr>
          <p:cNvPr id="36" name="U-Turn Arrow 35"/>
          <p:cNvSpPr/>
          <p:nvPr/>
        </p:nvSpPr>
        <p:spPr>
          <a:xfrm rot="10800000">
            <a:off x="3860799" y="2606037"/>
            <a:ext cx="3522132" cy="812811"/>
          </a:xfrm>
          <a:prstGeom prst="uturnArrow">
            <a:avLst>
              <a:gd name="adj1" fmla="val 8949"/>
              <a:gd name="adj2" fmla="val 25000"/>
              <a:gd name="adj3" fmla="val 18056"/>
              <a:gd name="adj4" fmla="val 43750"/>
              <a:gd name="adj5" fmla="val 95699"/>
            </a:avLst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75488" y="3785615"/>
            <a:ext cx="8129016" cy="512064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" y="3933925"/>
            <a:ext cx="769924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Fujitsu Infinity Pro"/>
              </a:rPr>
              <a:t>Every exit writes a handover: tests • traces • root-cause notes • patch diffs • open risks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740664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Fujitsu Infinity Pro"/>
              </a:rPr>
              <a:t>Control long trajectories with durable state and a small tool surface</a:t>
            </a:r>
          </a:p>
        </p:txBody>
      </p:sp>
      <p:sp>
        <p:nvSpPr>
          <p:cNvPr id="3" name="ANIM_MEMORY"/>
          <p:cNvSpPr/>
          <p:nvPr/>
        </p:nvSpPr>
        <p:spPr>
          <a:xfrm>
            <a:off x="457200" y="1005840"/>
            <a:ext cx="3950208" cy="3255264"/>
          </a:xfrm>
          <a:prstGeom prst="roundRect">
            <a:avLst/>
          </a:prstGeom>
          <a:solidFill>
            <a:srgbClr val="EAFBFD"/>
          </a:solidFill>
          <a:ln w="12700">
            <a:solidFill>
              <a:srgbClr val="08A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243584"/>
            <a:ext cx="1298448" cy="283464"/>
          </a:xfrm>
          <a:prstGeom prst="roundRect">
            <a:avLst/>
          </a:prstGeom>
          <a:solidFill>
            <a:srgbClr val="08A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252728"/>
            <a:ext cx="115214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Fujitsu Infinity Pro"/>
              </a:rPr>
              <a:t>DURABLE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00784"/>
            <a:ext cx="332841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82033"/>
                </a:solidFill>
                <a:latin typeface="Fujitsu Infinity Pro"/>
              </a:rPr>
              <a:t>The filesystem</a:t>
            </a:r>
            <a:r>
              <a:rPr lang="en-US" sz="1800" b="1" dirty="0">
                <a:solidFill>
                  <a:srgbClr val="182033"/>
                </a:solidFill>
                <a:latin typeface="Fujitsu Infinity Pro"/>
              </a:rPr>
              <a:t> </a:t>
            </a:r>
            <a:r>
              <a:rPr sz="1800" b="1" dirty="0">
                <a:solidFill>
                  <a:srgbClr val="182033"/>
                </a:solidFill>
                <a:latin typeface="Fujitsu Infinity Pro"/>
              </a:rPr>
              <a:t>is the source of truth.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450591"/>
            <a:ext cx="118872" cy="118872"/>
          </a:xfrm>
          <a:prstGeom prst="ellipse">
            <a:avLst/>
          </a:prstGeom>
          <a:solidFill>
            <a:srgbClr val="08A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Reproduction scripts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779775"/>
            <a:ext cx="118872" cy="118872"/>
          </a:xfrm>
          <a:prstGeom prst="ellipse">
            <a:avLst/>
          </a:prstGeom>
          <a:solidFill>
            <a:srgbClr val="08A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752344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Generated tests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108960"/>
            <a:ext cx="118872" cy="118872"/>
          </a:xfrm>
          <a:prstGeom prst="ellipse">
            <a:avLst/>
          </a:prstGeom>
          <a:solidFill>
            <a:srgbClr val="08A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8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Traces and logs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438144"/>
            <a:ext cx="118872" cy="118872"/>
          </a:xfrm>
          <a:prstGeom prst="ellipse">
            <a:avLst/>
          </a:prstGeom>
          <a:solidFill>
            <a:srgbClr val="08A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410712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Handover memos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3767328"/>
            <a:ext cx="118872" cy="118872"/>
          </a:xfrm>
          <a:prstGeom prst="ellipse">
            <a:avLst/>
          </a:prstGeom>
          <a:solidFill>
            <a:srgbClr val="08A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739896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Patch notes</a:t>
            </a:r>
          </a:p>
        </p:txBody>
      </p:sp>
      <p:sp>
        <p:nvSpPr>
          <p:cNvPr id="17" name="ANIM_TOOLS"/>
          <p:cNvSpPr/>
          <p:nvPr/>
        </p:nvSpPr>
        <p:spPr>
          <a:xfrm>
            <a:off x="4718304" y="1005840"/>
            <a:ext cx="3950208" cy="3255264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6C4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956048" y="1243584"/>
            <a:ext cx="1490472" cy="283464"/>
          </a:xfrm>
          <a:prstGeom prst="roundRect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0" y="1252728"/>
            <a:ext cx="134416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Fujitsu Infinity Pro"/>
              </a:rPr>
              <a:t>DETERMINISTIC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1700784"/>
            <a:ext cx="331012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033"/>
                </a:solidFill>
                <a:latin typeface="Fujitsu Infinity Pro"/>
              </a:rPr>
              <a:t>Keep the tool set small, inspectable, and phase-gated.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74336" y="2468880"/>
            <a:ext cx="1078992" cy="301752"/>
          </a:xfrm>
          <a:prstGeom prst="roundRect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1768" y="2505456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Fujitsu Infinity Pro"/>
              </a:rPr>
              <a:t>line_trace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478024"/>
            <a:ext cx="20116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runtime values at suspect lines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74336" y="2990088"/>
            <a:ext cx="1078992" cy="301752"/>
          </a:xfrm>
          <a:prstGeom prst="roundRect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3026664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Fujitsu Infinity Pro"/>
              </a:rPr>
              <a:t>caller_trace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999232"/>
            <a:ext cx="20116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paths from symptom to 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74336" y="3511296"/>
            <a:ext cx="1078992" cy="301752"/>
          </a:xfrm>
          <a:prstGeom prst="roundRect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01768" y="3547872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Fujitsu Infinity Pro"/>
              </a:rPr>
              <a:t>line_edit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520439"/>
            <a:ext cx="20116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guarded edits against expected text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740664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Fujitsu Infinity Pro"/>
              </a:rPr>
              <a:t>Cross-agent testing: use each run’s tests to judge the other patches</a:t>
            </a:r>
          </a:p>
        </p:txBody>
      </p:sp>
      <p:sp>
        <p:nvSpPr>
          <p:cNvPr id="3" name="ANIM_CANDIDATES"/>
          <p:cNvSpPr/>
          <p:nvPr/>
        </p:nvSpPr>
        <p:spPr>
          <a:xfrm>
            <a:off x="438912" y="1115568"/>
            <a:ext cx="1993392" cy="2852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167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335024"/>
            <a:ext cx="16276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674EA"/>
                </a:solidFill>
                <a:latin typeface="Fujitsu Infinity Pro"/>
              </a:rPr>
              <a:t>8 independent 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65376"/>
            <a:ext cx="621792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7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92807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74EA"/>
                </a:solidFill>
                <a:latin typeface="Fujitsu Infinity Pro"/>
              </a:rPr>
              <a:t>Δ1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08176" y="2295144"/>
            <a:ext cx="621792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7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08176" y="2322575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74EA"/>
                </a:solidFill>
                <a:latin typeface="Fujitsu Infinity Pro"/>
              </a:rPr>
              <a:t>Δ2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24912"/>
            <a:ext cx="621792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7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752344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74EA"/>
                </a:solidFill>
                <a:latin typeface="Fujitsu Infinity Pro"/>
              </a:rPr>
              <a:t>Δ3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08176" y="3154680"/>
            <a:ext cx="621792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7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08176" y="3182112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74EA"/>
                </a:solidFill>
                <a:latin typeface="Fujitsu Infinity Pro"/>
              </a:rPr>
              <a:t>Δ4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557016"/>
            <a:ext cx="15453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878"/>
                </a:solidFill>
                <a:latin typeface="Fujitsu Infinity Pro"/>
              </a:rPr>
              <a:t>one patch + two test suites per run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32888" y="2267712"/>
            <a:ext cx="420624" cy="301752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_MATRIX"/>
          <p:cNvSpPr/>
          <p:nvPr/>
        </p:nvSpPr>
        <p:spPr>
          <a:xfrm>
            <a:off x="3035808" y="1115568"/>
            <a:ext cx="2889504" cy="2852928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EF6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0128" y="1316736"/>
            <a:ext cx="23408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F6C22"/>
                </a:solidFill>
                <a:latin typeface="Fujitsu Infinity Pro"/>
              </a:rPr>
              <a:t>K × K execution matrix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5576" y="1856231"/>
            <a:ext cx="233172" cy="233172"/>
          </a:xfrm>
          <a:prstGeom prst="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21608" y="1856231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77639" y="1856231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33672" y="1856231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89704" y="1856231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45736" y="1856231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01768" y="1856231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257800" y="1856231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65576" y="2112263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721608" y="2112263"/>
            <a:ext cx="233172" cy="233172"/>
          </a:xfrm>
          <a:prstGeom prst="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977639" y="2112263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33672" y="2112263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89704" y="2112263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45736" y="2112263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01768" y="2112263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257800" y="2112263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465576" y="2368296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721608" y="2368296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977639" y="2368296"/>
            <a:ext cx="233172" cy="233172"/>
          </a:xfrm>
          <a:prstGeom prst="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33672" y="2368296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89704" y="2368296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45736" y="2368296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01768" y="2368296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257800" y="2368296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465576" y="2624328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721608" y="2624328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977639" y="2624328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233672" y="2624328"/>
            <a:ext cx="233172" cy="233172"/>
          </a:xfrm>
          <a:prstGeom prst="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9704" y="2624328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745736" y="2624328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001768" y="2624328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257800" y="2624328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465576" y="2880360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721608" y="2880360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977639" y="2880360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233672" y="2880360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489704" y="2880360"/>
            <a:ext cx="233172" cy="233172"/>
          </a:xfrm>
          <a:prstGeom prst="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745736" y="2880360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001768" y="2880360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257800" y="2880360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465576" y="3136391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721608" y="3136391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977639" y="3136391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233672" y="3136391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489704" y="3136391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745736" y="3136391"/>
            <a:ext cx="233172" cy="233172"/>
          </a:xfrm>
          <a:prstGeom prst="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001768" y="3136391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257800" y="3136391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3465576" y="3392424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721608" y="3392424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977639" y="3392424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33672" y="3392424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489704" y="3392424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745736" y="3392424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001768" y="3392424"/>
            <a:ext cx="233172" cy="233172"/>
          </a:xfrm>
          <a:prstGeom prst="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257800" y="3392424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465576" y="3648456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3721608" y="3648456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977639" y="3648456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233672" y="3648456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489704" y="3648456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4745736" y="3648456"/>
            <a:ext cx="233172" cy="233172"/>
          </a:xfrm>
          <a:prstGeom prst="rect">
            <a:avLst/>
          </a:prstGeom>
          <a:solidFill>
            <a:srgbClr val="F6A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001768" y="3648456"/>
            <a:ext cx="233172" cy="233172"/>
          </a:xfrm>
          <a:prstGeom prst="rect">
            <a:avLst/>
          </a:prstGeom>
          <a:solidFill>
            <a:srgbClr val="F7C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257800" y="3648456"/>
            <a:ext cx="233172" cy="233172"/>
          </a:xfrm>
          <a:prstGeom prst="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273552" y="3657600"/>
            <a:ext cx="24140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F6878"/>
                </a:solidFill>
                <a:latin typeface="Fujitsu Infinity Pro"/>
              </a:rPr>
              <a:t>tests from run j × patch from run i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6035040" y="2267712"/>
            <a:ext cx="420624" cy="301752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ANIM_SELECTED"/>
          <p:cNvSpPr/>
          <p:nvPr/>
        </p:nvSpPr>
        <p:spPr>
          <a:xfrm>
            <a:off x="6547104" y="1115568"/>
            <a:ext cx="2139696" cy="2852928"/>
          </a:xfrm>
          <a:prstGeom prst="roundRect">
            <a:avLst/>
          </a:prstGeom>
          <a:solidFill>
            <a:srgbClr val="EAF8F4"/>
          </a:solidFill>
          <a:ln w="12700">
            <a:solidFill>
              <a:srgbClr val="0A9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812280" y="1325880"/>
            <a:ext cx="16093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9D7A"/>
                </a:solidFill>
                <a:latin typeface="Fujitsu Infinity Pro"/>
              </a:rPr>
              <a:t>Execution score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12280" y="1865376"/>
            <a:ext cx="1618488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82033"/>
                </a:solidFill>
                <a:latin typeface="Fujitsu Infinity Pro"/>
              </a:rPr>
              <a:t>0.3 × bug tests
+
0.7 × regression tests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76288" y="3191256"/>
            <a:ext cx="1481328" cy="283464"/>
          </a:xfrm>
          <a:prstGeom prst="roundRect">
            <a:avLst/>
          </a:prstGeom>
          <a:solidFill>
            <a:srgbClr val="0A9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949440" y="3200400"/>
            <a:ext cx="133502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Fujitsu Infinity Pro"/>
              </a:rPr>
              <a:t>SELECTED PATCH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965960" y="4178808"/>
            <a:ext cx="5230368" cy="39319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148840" y="4242816"/>
            <a:ext cx="48646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Hidden benchmark tests are never used during selection.</a:t>
            </a:r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740664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Fujitsu Infinity Pro"/>
              </a:rPr>
              <a:t>Evaluation: fixed model, eight trajectories, official benchmark</a:t>
            </a:r>
          </a:p>
        </p:txBody>
      </p:sp>
      <p:sp>
        <p:nvSpPr>
          <p:cNvPr id="3" name="ANIM_E1"/>
          <p:cNvSpPr/>
          <p:nvPr/>
        </p:nvSpPr>
        <p:spPr>
          <a:xfrm>
            <a:off x="475488" y="1078992"/>
            <a:ext cx="1901952" cy="1362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88719"/>
            <a:ext cx="1609344" cy="749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74EA"/>
                </a:solidFill>
                <a:latin typeface="Fujitsu Infinity Pro"/>
              </a:rPr>
              <a:t>27B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869216"/>
            <a:ext cx="1645920" cy="408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Qwen3.5 open-weight backbone</a:t>
            </a:r>
          </a:p>
        </p:txBody>
      </p:sp>
      <p:sp>
        <p:nvSpPr>
          <p:cNvPr id="6" name="ANIM_E2"/>
          <p:cNvSpPr/>
          <p:nvPr/>
        </p:nvSpPr>
        <p:spPr>
          <a:xfrm>
            <a:off x="2578608" y="1078992"/>
            <a:ext cx="1901952" cy="1362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24912" y="1188719"/>
            <a:ext cx="1609344" cy="749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F6C22"/>
                </a:solidFill>
                <a:latin typeface="Fujitsu Infinity Pro"/>
              </a:rPr>
              <a:t>K =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6624" y="1869216"/>
            <a:ext cx="1645920" cy="408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independent candidate runs</a:t>
            </a:r>
          </a:p>
        </p:txBody>
      </p:sp>
      <p:sp>
        <p:nvSpPr>
          <p:cNvPr id="9" name="ANIM_E3"/>
          <p:cNvSpPr/>
          <p:nvPr/>
        </p:nvSpPr>
        <p:spPr>
          <a:xfrm>
            <a:off x="4681727" y="1078992"/>
            <a:ext cx="1901952" cy="1362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28031" y="1188719"/>
            <a:ext cx="1609344" cy="749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6C4CF6"/>
                </a:solidFill>
                <a:latin typeface="Fujitsu Infinity Pro"/>
              </a:rPr>
              <a:t>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9743" y="1869216"/>
            <a:ext cx="1645920" cy="408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SWE-bench Verified issues</a:t>
            </a:r>
          </a:p>
        </p:txBody>
      </p:sp>
      <p:sp>
        <p:nvSpPr>
          <p:cNvPr id="12" name="ANIM_E4"/>
          <p:cNvSpPr/>
          <p:nvPr/>
        </p:nvSpPr>
        <p:spPr>
          <a:xfrm>
            <a:off x="6784848" y="1078992"/>
            <a:ext cx="1901952" cy="1362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31152" y="1188719"/>
            <a:ext cx="1609344" cy="749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A9D7A"/>
                </a:solidFill>
                <a:latin typeface="Fujitsu Infinity Pro"/>
              </a:rPr>
              <a:t>Official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864" y="1869216"/>
            <a:ext cx="1645920" cy="408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cloud evaluator headline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2926080"/>
            <a:ext cx="438912" cy="438912"/>
          </a:xfrm>
          <a:prstGeom prst="ellipse">
            <a:avLst/>
          </a:prstGeom>
          <a:solidFill>
            <a:srgbClr val="167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" y="2990088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016" y="2907792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2033"/>
                </a:solidFill>
                <a:latin typeface="Fujitsu Infinity Pro"/>
              </a:rPr>
              <a:t>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1016" y="3246120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878"/>
                </a:solidFill>
                <a:latin typeface="Fujitsu Infinity Pro"/>
              </a:rPr>
              <a:t>patch + tests + trajectory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999232" y="3108960"/>
            <a:ext cx="320040" cy="246888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493008" y="2926080"/>
            <a:ext cx="438912" cy="438912"/>
          </a:xfrm>
          <a:prstGeom prst="ellipse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93008" y="2990088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7368" y="2907792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2033"/>
                </a:solidFill>
                <a:latin typeface="Fujitsu Infinity Pro"/>
              </a:rPr>
              <a:t>Cross-test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87368" y="3246120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878"/>
                </a:solidFill>
                <a:latin typeface="Fujitsu Infinity Pro"/>
              </a:rPr>
              <a:t>21,635 patch–suite executions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815584" y="3108960"/>
            <a:ext cx="320040" cy="246888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09360" y="2926080"/>
            <a:ext cx="438912" cy="438912"/>
          </a:xfrm>
          <a:prstGeom prst="ellipse">
            <a:avLst/>
          </a:prstGeom>
          <a:solidFill>
            <a:srgbClr val="0A9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2990088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Fujitsu Infinity Pro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907792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2033"/>
                </a:solidFill>
                <a:latin typeface="Fujitsu Infinity Pro"/>
              </a:rP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246120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878"/>
                </a:solidFill>
                <a:latin typeface="Fujitsu Infinity Pro"/>
              </a:rPr>
              <a:t>one selected patch per issue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" y="4114800"/>
            <a:ext cx="8183879" cy="393192"/>
          </a:xfrm>
          <a:prstGeom prst="roundRect">
            <a:avLst/>
          </a:prstGeom>
          <a:solidFill>
            <a:srgbClr val="EAFBFD"/>
          </a:solidFill>
          <a:ln w="12700">
            <a:solidFill>
              <a:srgbClr val="08A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4187952"/>
            <a:ext cx="7744968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82033"/>
                </a:solidFill>
                <a:latin typeface="Fujitsu Infinity Pro"/>
              </a:rPr>
              <a:t>No fine-tuning before deployment; model weights remain unchanged.</a:t>
            </a:r>
          </a:p>
        </p:txBody>
      </p:sp>
    </p:spTree>
  </p:cSld>
  <p:clrMapOvr>
    <a:masterClrMapping/>
  </p:clrMapOvr>
  <p:transition spd="med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52" y="502920"/>
            <a:ext cx="1207008" cy="283464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3" y="512064"/>
            <a:ext cx="10607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Fujitsu Infinity Pro"/>
              </a:rPr>
              <a:t>HEADLINE RESULT</a:t>
            </a:r>
          </a:p>
        </p:txBody>
      </p:sp>
      <p:sp>
        <p:nvSpPr>
          <p:cNvPr id="4" name="ANIM_SCORE"/>
          <p:cNvSpPr txBox="1"/>
          <p:nvPr/>
        </p:nvSpPr>
        <p:spPr>
          <a:xfrm>
            <a:off x="548640" y="1078992"/>
            <a:ext cx="3730752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82033"/>
                </a:solidFill>
                <a:latin typeface="Fujitsu Infinity Pro"/>
              </a:rPr>
              <a:t>74.8%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39112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D6007F"/>
                </a:solidFill>
                <a:latin typeface="Fujitsu Infinity Pro"/>
              </a:rPr>
              <a:t>374 / 500 resolved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49631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878"/>
                </a:solidFill>
                <a:latin typeface="Fujitsu Infinity Pro"/>
              </a:rPr>
              <a:t>SWE-bench Verified • official evaluator</a:t>
            </a:r>
          </a:p>
        </p:txBody>
      </p:sp>
      <p:sp>
        <p:nvSpPr>
          <p:cNvPr id="7" name="ANIM_CI"/>
          <p:cNvSpPr/>
          <p:nvPr/>
        </p:nvSpPr>
        <p:spPr>
          <a:xfrm>
            <a:off x="4809744" y="1051560"/>
            <a:ext cx="3584448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56048" y="1161288"/>
            <a:ext cx="3291840" cy="623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6C4CF6"/>
                </a:solidFill>
                <a:latin typeface="Fujitsu Infinity Pro"/>
              </a:rPr>
              <a:t>70.82–78.41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1709196"/>
            <a:ext cx="3328415" cy="3401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Wilson 95% confidence interval</a:t>
            </a:r>
          </a:p>
        </p:txBody>
      </p:sp>
      <p:sp>
        <p:nvSpPr>
          <p:cNvPr id="10" name="ANIM_RANK"/>
          <p:cNvSpPr/>
          <p:nvPr/>
        </p:nvSpPr>
        <p:spPr>
          <a:xfrm>
            <a:off x="4809744" y="2414016"/>
            <a:ext cx="1682496" cy="1362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56048" y="2523744"/>
            <a:ext cx="1389888" cy="749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6007F"/>
                </a:solidFill>
                <a:latin typeface="Fujitsu Infinity Pro"/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3204240"/>
            <a:ext cx="1426464" cy="408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open-weight system in frozen peer snapshot</a:t>
            </a:r>
          </a:p>
        </p:txBody>
      </p:sp>
      <p:sp>
        <p:nvSpPr>
          <p:cNvPr id="13" name="ANIM_SIZE"/>
          <p:cNvSpPr/>
          <p:nvPr/>
        </p:nvSpPr>
        <p:spPr>
          <a:xfrm>
            <a:off x="6711696" y="2414016"/>
            <a:ext cx="1682496" cy="1362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2523744"/>
            <a:ext cx="1389888" cy="749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674EA"/>
                </a:solidFill>
                <a:latin typeface="Fujitsu Infinity Pro"/>
              </a:rPr>
              <a:t>27B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3204240"/>
            <a:ext cx="1426464" cy="408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986784"/>
            <a:ext cx="749807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033"/>
                </a:solidFill>
                <a:latin typeface="Fujitsu Infinity Pro"/>
              </a:rPr>
              <a:t>Competitive performance without model customization.</a:t>
            </a:r>
          </a:p>
        </p:txBody>
      </p:sp>
    </p:spTree>
  </p:cSld>
  <p:clrMapOvr>
    <a:masterClrMapping/>
  </p:clrMapOvr>
  <p:transition spd="med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740664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Fujitsu Infinity Pro"/>
              </a:rPr>
              <a:t>Result: the 27B system sits on the open/local Pareto frontier</a:t>
            </a:r>
          </a:p>
        </p:txBody>
      </p:sp>
      <p:sp>
        <p:nvSpPr>
          <p:cNvPr id="3" name="ANIM_PLOT"/>
          <p:cNvSpPr/>
          <p:nvPr/>
        </p:nvSpPr>
        <p:spPr>
          <a:xfrm>
            <a:off x="2639728" y="790222"/>
            <a:ext cx="6278494" cy="39102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road_success_vs_pa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877" y="1098242"/>
            <a:ext cx="5785739" cy="35387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96080" y="1098242"/>
            <a:ext cx="1901952" cy="1106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2384" y="1207969"/>
            <a:ext cx="1609344" cy="608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D6007F"/>
                </a:solidFill>
                <a:latin typeface="Fujitsu Infinity Pro"/>
              </a:rPr>
              <a:t>74.8%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095" y="1739967"/>
            <a:ext cx="1645920" cy="331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success rate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740664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Fujitsu Infinity Pro"/>
              </a:rPr>
              <a:t>Selection lift: diversity first, cross-agent ranking second</a:t>
            </a:r>
          </a:p>
        </p:txBody>
      </p:sp>
      <p:sp>
        <p:nvSpPr>
          <p:cNvPr id="3" name="ANIM_A1"/>
          <p:cNvSpPr/>
          <p:nvPr/>
        </p:nvSpPr>
        <p:spPr>
          <a:xfrm>
            <a:off x="658368" y="3030321"/>
            <a:ext cx="1307592" cy="974750"/>
          </a:xfrm>
          <a:prstGeom prst="roundRect">
            <a:avLst/>
          </a:prstGeom>
          <a:solidFill>
            <a:srgbClr val="167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158337"/>
            <a:ext cx="13075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Fujitsu Infinity Pro"/>
              </a:rPr>
              <a:t>67.7%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23944"/>
            <a:ext cx="15270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2033"/>
                </a:solidFill>
                <a:latin typeface="Fujitsu Infinity Pro"/>
              </a:rPr>
              <a:t>Mean
pass@1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21408" y="3063240"/>
            <a:ext cx="384048" cy="265176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NIM_A2"/>
          <p:cNvSpPr/>
          <p:nvPr/>
        </p:nvSpPr>
        <p:spPr>
          <a:xfrm>
            <a:off x="2743200" y="2686507"/>
            <a:ext cx="1307592" cy="1318564"/>
          </a:xfrm>
          <a:prstGeom prst="round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2814523"/>
            <a:ext cx="13075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Fujitsu Infinity Pro"/>
              </a:rPr>
              <a:t>72.4%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4123944"/>
            <a:ext cx="15270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2033"/>
                </a:solidFill>
                <a:latin typeface="Fujitsu Infinity Pro"/>
              </a:rPr>
              <a:t>Order
baseline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06240" y="3063240"/>
            <a:ext cx="384048" cy="265176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_A3"/>
          <p:cNvSpPr/>
          <p:nvPr/>
        </p:nvSpPr>
        <p:spPr>
          <a:xfrm>
            <a:off x="4828031" y="2481681"/>
            <a:ext cx="1307592" cy="1523390"/>
          </a:xfrm>
          <a:prstGeom prst="roundRect">
            <a:avLst/>
          </a:prstGeom>
          <a:solidFill>
            <a:srgbClr val="0A9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8031" y="2609697"/>
            <a:ext cx="13075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Fujitsu Infinity Pro"/>
              </a:rPr>
              <a:t>75.2%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3" y="4123944"/>
            <a:ext cx="15270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2033"/>
                </a:solidFill>
                <a:latin typeface="Fujitsu Infinity Pro"/>
              </a:rPr>
              <a:t>Cross-agent
selector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291071" y="3063240"/>
            <a:ext cx="384048" cy="265176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_A4"/>
          <p:cNvSpPr/>
          <p:nvPr/>
        </p:nvSpPr>
        <p:spPr>
          <a:xfrm>
            <a:off x="6912864" y="2013508"/>
            <a:ext cx="1307592" cy="1991563"/>
          </a:xfrm>
          <a:prstGeom prst="roundRect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12864" y="2141524"/>
            <a:ext cx="13075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Fujitsu Infinity Pro"/>
              </a:rPr>
              <a:t>81.6%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4123944"/>
            <a:ext cx="15270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2033"/>
                </a:solidFill>
                <a:latin typeface="Fujitsu Infinity Pro"/>
              </a:rPr>
              <a:t>Oracle
pass@8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1024128"/>
            <a:ext cx="2185416" cy="283464"/>
          </a:xfrm>
          <a:prstGeom prst="roundRect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84832" y="1033272"/>
            <a:ext cx="203911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Fujitsu Infinity Pro"/>
              </a:rPr>
              <a:t>+7.5 PP VS MEAN PASS@1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72584" y="1024128"/>
            <a:ext cx="2331720" cy="283464"/>
          </a:xfrm>
          <a:prstGeom prst="roundRect">
            <a:avLst/>
          </a:prstGeom>
          <a:solidFill>
            <a:srgbClr val="0A9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45736" y="1033272"/>
            <a:ext cx="2185415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Fujitsu Infinity Pro"/>
              </a:rPr>
              <a:t>+2.8 PP VS ORDER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1517904"/>
            <a:ext cx="68031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2033"/>
                </a:solidFill>
                <a:latin typeface="Fujitsu Infinity Pro"/>
              </a:rPr>
              <a:t>Selection captures 376 of the 408 issues solved by at least one run.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F4BD90A-5EC8-0998-A9DF-2B6DE5696CFC}"/>
              </a:ext>
            </a:extLst>
          </p:cNvPr>
          <p:cNvSpPr/>
          <p:nvPr/>
        </p:nvSpPr>
        <p:spPr>
          <a:xfrm>
            <a:off x="90311" y="790222"/>
            <a:ext cx="8605633" cy="41612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61539B-DDD8-738C-9D0A-049FB788A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fig16_tts_per_leg.png">
            <a:extLst>
              <a:ext uri="{FF2B5EF4-FFF2-40B4-BE49-F238E27FC236}">
                <a16:creationId xmlns:a16="http://schemas.microsoft.com/office/drawing/2014/main" id="{C76FD9AD-EF4B-EC08-6C61-8191F1BF8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4" y="964924"/>
            <a:ext cx="7538316" cy="419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13459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740664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Fujitsu Infinity Pro"/>
              </a:rPr>
              <a:t>Reliability: formatting is solved; semantics is the bottleneck</a:t>
            </a:r>
          </a:p>
        </p:txBody>
      </p:sp>
      <p:sp>
        <p:nvSpPr>
          <p:cNvPr id="3" name="ANIM_APPLY"/>
          <p:cNvSpPr/>
          <p:nvPr/>
        </p:nvSpPr>
        <p:spPr>
          <a:xfrm>
            <a:off x="502920" y="1042415"/>
            <a:ext cx="2816352" cy="1545336"/>
          </a:xfrm>
          <a:prstGeom prst="roundRect">
            <a:avLst/>
          </a:prstGeom>
          <a:solidFill>
            <a:srgbClr val="EAF8F4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9224" y="1152143"/>
            <a:ext cx="2523744" cy="8499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0A9D7A"/>
                </a:solidFill>
                <a:latin typeface="Fujitsu Infinity Pro"/>
              </a:rPr>
              <a:t>494/495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1938710"/>
            <a:ext cx="2560320" cy="46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produced patches apply cleanly</a:t>
            </a:r>
          </a:p>
        </p:txBody>
      </p:sp>
      <p:sp>
        <p:nvSpPr>
          <p:cNvPr id="6" name="ANIM_SEMANTIC"/>
          <p:cNvSpPr/>
          <p:nvPr/>
        </p:nvSpPr>
        <p:spPr>
          <a:xfrm>
            <a:off x="3502152" y="1042415"/>
            <a:ext cx="2816352" cy="1545336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48456" y="1152143"/>
            <a:ext cx="2523744" cy="8499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EF6C22"/>
                </a:solidFill>
                <a:latin typeface="Fujitsu Infinity Pro"/>
              </a:rPr>
              <a:t>91.3%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0168" y="1938710"/>
            <a:ext cx="2560320" cy="46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of unresolved cases are clean-applying WRONG_FIX patches</a:t>
            </a:r>
          </a:p>
        </p:txBody>
      </p:sp>
      <p:sp>
        <p:nvSpPr>
          <p:cNvPr id="9" name="ANIM_REGRET"/>
          <p:cNvSpPr/>
          <p:nvPr/>
        </p:nvSpPr>
        <p:spPr>
          <a:xfrm>
            <a:off x="6501384" y="1042415"/>
            <a:ext cx="2139696" cy="1545336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47688" y="1152143"/>
            <a:ext cx="1847088" cy="8499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6C4CF6"/>
                </a:solidFill>
                <a:latin typeface="Fujitsu Infinity Pro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38710"/>
            <a:ext cx="1883663" cy="463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oracle-solved issues missed by final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99232"/>
            <a:ext cx="2395728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82033"/>
                </a:solidFill>
                <a:latin typeface="Fujitsu Infinity Pro"/>
              </a:rPr>
              <a:t>Unresolved outcome composition</a:t>
            </a:r>
            <a:r>
              <a:rPr lang="en-US" sz="1300" b="1" dirty="0">
                <a:solidFill>
                  <a:srgbClr val="182033"/>
                </a:solidFill>
                <a:latin typeface="Fujitsu Infinity Pro"/>
              </a:rPr>
              <a:t> (model quality)</a:t>
            </a:r>
            <a:endParaRPr sz="1300" b="1" dirty="0">
              <a:solidFill>
                <a:srgbClr val="182033"/>
              </a:solidFill>
              <a:latin typeface="Fujitsu Infinity Pro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3438144"/>
            <a:ext cx="7335882" cy="493776"/>
          </a:xfrm>
          <a:prstGeom prst="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7" y="3547872"/>
            <a:ext cx="720786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Fujitsu Infinity Pro"/>
              </a:rPr>
              <a:t>WRONG_FIX 115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4522" y="3438144"/>
            <a:ext cx="382741" cy="493776"/>
          </a:xfrm>
          <a:prstGeom prst="rect">
            <a:avLst/>
          </a:prstGeom>
          <a:solidFill>
            <a:srgbClr val="E7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67264" y="3438144"/>
            <a:ext cx="318951" cy="493776"/>
          </a:xfrm>
          <a:prstGeom prst="rect">
            <a:avLst/>
          </a:prstGeom>
          <a:solidFill>
            <a:srgbClr val="5F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4151376"/>
            <a:ext cx="8037575" cy="38404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4224528"/>
            <a:ext cx="759866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Fujitsu Infinity Pro"/>
              </a:rPr>
              <a:t>Next frontier: semantic correctness + better selection signals.</a:t>
            </a:r>
          </a:p>
        </p:txBody>
      </p:sp>
    </p:spTree>
  </p:cSld>
  <p:clrMapOvr>
    <a:masterClrMapping/>
  </p:clrMapOvr>
  <p:transition spd="med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690372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Fujitsu Infinity Pro"/>
              </a:rPr>
              <a:t>Failure taxonomy for the 126 unresolved issues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92024"/>
            <a:ext cx="512063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914400"/>
            <a:ext cx="6016752" cy="3694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03_failure_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" y="1482320"/>
            <a:ext cx="5833872" cy="25400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188720"/>
            <a:ext cx="1783080" cy="1097280"/>
          </a:xfrm>
          <a:prstGeom prst="roundRect">
            <a:avLst/>
          </a:prstGeom>
          <a:solidFill>
            <a:srgbClr val="EAF8F4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21424" y="1298448"/>
            <a:ext cx="149047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A9D7A"/>
                </a:solidFill>
                <a:latin typeface="Fujitsu Infinity Pro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3136" y="1825142"/>
            <a:ext cx="15270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empty patches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523744"/>
            <a:ext cx="1783080" cy="1097280"/>
          </a:xfrm>
          <a:prstGeom prst="roundRect">
            <a:avLst/>
          </a:prstGeom>
          <a:solidFill>
            <a:srgbClr val="EAF8F4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21424" y="2633472"/>
            <a:ext cx="149047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A9D7A"/>
                </a:solidFill>
                <a:latin typeface="Fujitsu Infinity Pro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3136" y="3160166"/>
            <a:ext cx="15270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patch-did-not-apply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3904487"/>
            <a:ext cx="18562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Five missing artifacts remain in the canonical 500 denominator.</a:t>
            </a:r>
          </a:p>
        </p:txBody>
      </p:sp>
    </p:spTree>
    <p:extLst>
      <p:ext uri="{BB962C8B-B14F-4D97-AF65-F5344CB8AC3E}">
        <p14:creationId xmlns:p14="http://schemas.microsoft.com/office/powerpoint/2010/main" val="3788574845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690372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Fujitsu Infinity Pro"/>
              </a:rPr>
              <a:t>Per-run pass@1, selected result, and oracle ceiling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92024"/>
            <a:ext cx="512063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311" y="790222"/>
            <a:ext cx="8605633" cy="41612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577AAC-9232-10A9-A5DE-5B51EBF8A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60" y="916659"/>
            <a:ext cx="7789333" cy="390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69115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690372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Fujitsu Infinity Pro"/>
              </a:rPr>
              <a:t>Cross-language transfer: same scaffold, different absolute difficulty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32688"/>
            <a:ext cx="62179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ross_track_kozuc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" y="1585563"/>
            <a:ext cx="6007608" cy="2333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85432" y="1197864"/>
            <a:ext cx="1645920" cy="1225296"/>
          </a:xfrm>
          <a:prstGeom prst="roundRect">
            <a:avLst/>
          </a:prstGeom>
          <a:solidFill>
            <a:srgbClr val="FDEDE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31736" y="1307592"/>
            <a:ext cx="1353312" cy="673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E74457"/>
                </a:solidFill>
                <a:latin typeface="Fujitsu Infinity Pro"/>
              </a:rPr>
              <a:t>32.03%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3448" y="1908535"/>
            <a:ext cx="1389888" cy="367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Java • 41 / 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85432" y="2660904"/>
            <a:ext cx="1645920" cy="1225296"/>
          </a:xfrm>
          <a:prstGeom prst="roundRect">
            <a:avLst/>
          </a:prstGeom>
          <a:solidFill>
            <a:srgbClr val="EAF8F4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31736" y="2770632"/>
            <a:ext cx="1353312" cy="673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A9D7A"/>
                </a:solidFill>
                <a:latin typeface="Fujitsu Infinity Pro"/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3371575"/>
            <a:ext cx="1389888" cy="367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strict open-weight 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4105656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F6878"/>
                </a:solidFill>
                <a:latin typeface="Fujitsu Infinity Pro"/>
              </a:rPr>
              <a:t>Per-phase message share stays within ±5 pp.</a:t>
            </a:r>
          </a:p>
        </p:txBody>
      </p:sp>
    </p:spTree>
    <p:extLst>
      <p:ext uri="{BB962C8B-B14F-4D97-AF65-F5344CB8AC3E}">
        <p14:creationId xmlns:p14="http://schemas.microsoft.com/office/powerpoint/2010/main" val="2614880026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740664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Fujitsu Infinity Pro"/>
              </a:rPr>
              <a:t>Operational impact: manual workflow → reusable CI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6072" y="932688"/>
            <a:ext cx="960120" cy="283464"/>
          </a:xfrm>
          <a:prstGeom prst="roundRect">
            <a:avLst/>
          </a:prstGeom>
          <a:solidFill>
            <a:srgbClr val="5F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9224" y="941832"/>
            <a:ext cx="8138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Fujitsu Infinity Pro"/>
              </a:rPr>
              <a:t>BEFORE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61888" y="932688"/>
            <a:ext cx="1316736" cy="283464"/>
          </a:xfrm>
          <a:prstGeom prst="roundRect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0" y="941832"/>
            <a:ext cx="117043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Fujitsu Infinity Pro"/>
              </a:rPr>
              <a:t>WITH KOZUCHI</a:t>
            </a:r>
          </a:p>
        </p:txBody>
      </p:sp>
      <p:sp>
        <p:nvSpPr>
          <p:cNvPr id="7" name="ANIM_O1"/>
          <p:cNvSpPr/>
          <p:nvPr/>
        </p:nvSpPr>
        <p:spPr>
          <a:xfrm>
            <a:off x="566928" y="1417320"/>
            <a:ext cx="2788920" cy="557784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90472"/>
            <a:ext cx="704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F6878"/>
                </a:solidFill>
                <a:latin typeface="Fujitsu Infinity Pro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536192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operator touch-points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86200" y="1563624"/>
            <a:ext cx="987552" cy="256032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32704" y="1417320"/>
            <a:ext cx="2926080" cy="557784"/>
          </a:xfrm>
          <a:prstGeom prst="roundRect">
            <a:avLst/>
          </a:prstGeom>
          <a:solidFill>
            <a:srgbClr val="FDEDEF"/>
          </a:solidFill>
          <a:ln w="12700">
            <a:solidFill>
              <a:srgbClr val="D6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06440" y="1490472"/>
            <a:ext cx="7498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6007F"/>
                </a:solidFill>
                <a:latin typeface="Fujitsu Infinity Pr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536192"/>
            <a:ext cx="1691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2033"/>
                </a:solidFill>
                <a:latin typeface="Fujitsu Infinity Pro"/>
              </a:rPr>
              <a:t>CI push</a:t>
            </a:r>
          </a:p>
        </p:txBody>
      </p:sp>
      <p:sp>
        <p:nvSpPr>
          <p:cNvPr id="14" name="ANIM_O2"/>
          <p:cNvSpPr/>
          <p:nvPr/>
        </p:nvSpPr>
        <p:spPr>
          <a:xfrm>
            <a:off x="566928" y="2176272"/>
            <a:ext cx="2788920" cy="557784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249424"/>
            <a:ext cx="704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F6878"/>
                </a:solidFill>
                <a:latin typeface="Fujitsu Infinity Pro"/>
              </a:rPr>
              <a:t>0 /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2295144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reusable stages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886200" y="2322576"/>
            <a:ext cx="987552" cy="256032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632704" y="2176272"/>
            <a:ext cx="2926080" cy="557784"/>
          </a:xfrm>
          <a:prstGeom prst="roundRect">
            <a:avLst/>
          </a:prstGeom>
          <a:solidFill>
            <a:srgbClr val="FDEDEF"/>
          </a:solidFill>
          <a:ln w="12700">
            <a:solidFill>
              <a:srgbClr val="D6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06440" y="2249424"/>
            <a:ext cx="7498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6007F"/>
                </a:solidFill>
                <a:latin typeface="Fujitsu Infinity Pro"/>
              </a:rPr>
              <a:t>6 /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295144"/>
            <a:ext cx="1691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2033"/>
                </a:solidFill>
                <a:latin typeface="Fujitsu Infinity Pro"/>
              </a:rPr>
              <a:t>reusable stages</a:t>
            </a:r>
          </a:p>
        </p:txBody>
      </p:sp>
      <p:sp>
        <p:nvSpPr>
          <p:cNvPr id="21" name="ANIM_O3"/>
          <p:cNvSpPr/>
          <p:nvPr/>
        </p:nvSpPr>
        <p:spPr>
          <a:xfrm>
            <a:off x="566928" y="2935224"/>
            <a:ext cx="2788920" cy="557784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3008376"/>
            <a:ext cx="704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F6878"/>
                </a:solidFill>
                <a:latin typeface="Fujitsu Infinity Pro"/>
              </a:rPr>
              <a:t>ad hoc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054096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cluster scripts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886200" y="3081528"/>
            <a:ext cx="987552" cy="256032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632704" y="2935224"/>
            <a:ext cx="2926080" cy="557784"/>
          </a:xfrm>
          <a:prstGeom prst="roundRect">
            <a:avLst/>
          </a:prstGeom>
          <a:solidFill>
            <a:srgbClr val="FDEDEF"/>
          </a:solidFill>
          <a:ln w="12700">
            <a:solidFill>
              <a:srgbClr val="D6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06440" y="3008376"/>
            <a:ext cx="7498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6007F"/>
                </a:solidFill>
                <a:latin typeface="Fujitsu Infinity Pro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3054096"/>
            <a:ext cx="1691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2033"/>
                </a:solidFill>
                <a:latin typeface="Fujitsu Infinity Pro"/>
              </a:rPr>
              <a:t>ENV_NAME targets</a:t>
            </a:r>
          </a:p>
        </p:txBody>
      </p:sp>
      <p:sp>
        <p:nvSpPr>
          <p:cNvPr id="28" name="ANIM_O4"/>
          <p:cNvSpPr/>
          <p:nvPr/>
        </p:nvSpPr>
        <p:spPr>
          <a:xfrm>
            <a:off x="566928" y="3694176"/>
            <a:ext cx="2788920" cy="557784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3767328"/>
            <a:ext cx="704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F6878"/>
                </a:solidFill>
                <a:latin typeface="Fujitsu Infinity Pro"/>
              </a:rPr>
              <a:t>manual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3813048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score log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886200" y="3840480"/>
            <a:ext cx="987552" cy="256032"/>
          </a:xfrm>
          <a:prstGeom prst="rightArrow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632704" y="3694176"/>
            <a:ext cx="2926080" cy="557784"/>
          </a:xfrm>
          <a:prstGeom prst="roundRect">
            <a:avLst/>
          </a:prstGeom>
          <a:solidFill>
            <a:srgbClr val="FDEDEF"/>
          </a:solidFill>
          <a:ln w="12700">
            <a:solidFill>
              <a:srgbClr val="D6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06440" y="3767328"/>
            <a:ext cx="7498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6007F"/>
                </a:solidFill>
                <a:latin typeface="Fujitsu Infinity Pro"/>
              </a:rPr>
              <a:t>495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3813048"/>
            <a:ext cx="1691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2033"/>
                </a:solidFill>
                <a:latin typeface="Fujitsu Infinity Pro"/>
              </a:rPr>
              <a:t>trajectories + selection JSON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 animBg="1"/>
      <p:bldP spid="14" grpId="0" animBg="1"/>
      <p:bldP spid="21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39" y="475488"/>
            <a:ext cx="1291449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1659" y="524887"/>
            <a:ext cx="110540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D6007F"/>
                </a:solidFill>
                <a:latin typeface="Fujitsu Infinity Pro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67665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900" b="1" dirty="0">
                <a:solidFill>
                  <a:srgbClr val="FFFFFF"/>
                </a:solidFill>
                <a:latin typeface="Fujitsu Infinity Pro"/>
              </a:rPr>
              <a:t>Summary</a:t>
            </a:r>
            <a:endParaRPr sz="2900" b="1" dirty="0">
              <a:solidFill>
                <a:srgbClr val="FFFFFF"/>
              </a:solidFill>
              <a:latin typeface="Fujitsu Infinity Pro"/>
            </a:endParaRPr>
          </a:p>
        </p:txBody>
      </p:sp>
      <p:sp>
        <p:nvSpPr>
          <p:cNvPr id="5" name="ANIM_T1"/>
          <p:cNvSpPr/>
          <p:nvPr/>
        </p:nvSpPr>
        <p:spPr>
          <a:xfrm>
            <a:off x="603504" y="170078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1819656"/>
            <a:ext cx="53035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D6007F"/>
                </a:solidFill>
                <a:latin typeface="Fujitsu Infinity Pr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1709928"/>
            <a:ext cx="4800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Fujitsu Infinity Pro"/>
              </a:rPr>
              <a:t>Workflow is a capability multiplier.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0744" y="2065980"/>
            <a:ext cx="629107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  <a:latin typeface="Fujitsu Infinity Pro"/>
              </a:rPr>
              <a:t>Phases and durable state keep long repairs coherent.</a:t>
            </a:r>
          </a:p>
        </p:txBody>
      </p:sp>
      <p:sp>
        <p:nvSpPr>
          <p:cNvPr id="9" name="ANIM_T2"/>
          <p:cNvSpPr/>
          <p:nvPr/>
        </p:nvSpPr>
        <p:spPr>
          <a:xfrm>
            <a:off x="603504" y="2651760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2770632"/>
            <a:ext cx="53035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6007F"/>
                </a:solidFill>
                <a:latin typeface="Fujitsu Infinity Pr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2660904"/>
            <a:ext cx="4800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Fujitsu Infinity Pro"/>
              </a:rPr>
              <a:t>Diversity needs executable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3016956"/>
            <a:ext cx="629107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Fujitsu Infinity Pro"/>
              </a:rPr>
              <a:t>Cross-agent tests beat order and self-test selection.</a:t>
            </a:r>
          </a:p>
        </p:txBody>
      </p:sp>
      <p:sp>
        <p:nvSpPr>
          <p:cNvPr id="13" name="ANIM_T3"/>
          <p:cNvSpPr/>
          <p:nvPr/>
        </p:nvSpPr>
        <p:spPr>
          <a:xfrm>
            <a:off x="603504" y="3602736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3721608"/>
            <a:ext cx="53035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6007F"/>
                </a:solidFill>
                <a:latin typeface="Fujitsu Infinity Pr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611880"/>
            <a:ext cx="4800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Fujitsu Infinity Pro"/>
              </a:rPr>
              <a:t>System quality is measurable.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3967932"/>
            <a:ext cx="629107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Fujitsu Infinity Pro"/>
              </a:rPr>
              <a:t>74.8% official; 494/495 clean apply; residual gap is semantic.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5" grpId="0" animBg="1"/>
      <p:bldP spid="9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1261872"/>
            <a:ext cx="502920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Fujitsu Infinity Pro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419773"/>
            <a:ext cx="49377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Fujitsu Infinity Pro"/>
              </a:rPr>
              <a:t>From Phases to Patches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131821"/>
            <a:ext cx="7529689" cy="372218"/>
          </a:xfrm>
          <a:prstGeom prst="rect">
            <a:avLst/>
          </a:prstGeom>
          <a:solidFill>
            <a:srgbClr val="D7D7D7"/>
          </a:solidFill>
        </p:spPr>
        <p:txBody>
          <a:bodyPr wrap="square" lIns="0" tIns="0" rIns="0" bIns="0" anchor="ctr">
            <a:spAutoFit/>
          </a:bodyPr>
          <a:lstStyle/>
          <a:p>
            <a:pPr marL="17938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dirty="0">
                <a:latin typeface="Fujitsu Infinity Pro"/>
              </a:rPr>
              <a:t>http://</a:t>
            </a:r>
            <a:r>
              <a:rPr b="0" dirty="0" err="1">
                <a:latin typeface="Fujitsu Infinity Pro"/>
              </a:rPr>
              <a:t>github.com</a:t>
            </a:r>
            <a:r>
              <a:rPr b="0" dirty="0">
                <a:latin typeface="Fujitsu Infinity Pro"/>
              </a:rPr>
              <a:t>/</a:t>
            </a:r>
            <a:r>
              <a:rPr b="0" dirty="0" err="1">
                <a:latin typeface="Fujitsu Infinity Pro"/>
              </a:rPr>
              <a:t>marscod</a:t>
            </a:r>
            <a:r>
              <a:rPr b="0" dirty="0">
                <a:latin typeface="Fujitsu Infinity Pro"/>
              </a:rPr>
              <a:t>/</a:t>
            </a:r>
            <a:r>
              <a:rPr b="0" dirty="0" err="1">
                <a:latin typeface="Fujitsu Infinity Pro"/>
              </a:rPr>
              <a:t>kozuchi</a:t>
            </a:r>
            <a:r>
              <a:rPr b="0" dirty="0">
                <a:latin typeface="Fujitsu Infinity Pro"/>
              </a:rPr>
              <a:t>-agent-artifact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5D0CC-062C-1DCD-3511-17851B2C4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009575"/>
            <a:ext cx="998170" cy="10187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690372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Fujitsu Infinity Pro"/>
              </a:rPr>
              <a:t>Detailed phase graph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92024"/>
            <a:ext cx="512063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23544"/>
            <a:ext cx="8275320" cy="3694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ANIM_BACKUP_PHASE" descr="phase-f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928"/>
            <a:ext cx="8101583" cy="297026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690372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Fujitsu Infinity Pro"/>
              </a:rPr>
              <a:t>Selector details and guardrails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92024"/>
            <a:ext cx="512063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" y="1033271"/>
            <a:ext cx="3867912" cy="1417320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6C4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435608"/>
            <a:ext cx="3429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6C4CF6"/>
                </a:solidFill>
                <a:latin typeface="Fujitsu Infinity Pro"/>
              </a:rPr>
              <a:t>score(</a:t>
            </a:r>
            <a:r>
              <a:rPr sz="1600" b="1" dirty="0" err="1">
                <a:solidFill>
                  <a:srgbClr val="6C4CF6"/>
                </a:solidFill>
                <a:latin typeface="Fujitsu Infinity Pro"/>
              </a:rPr>
              <a:t>i</a:t>
            </a:r>
            <a:r>
              <a:rPr sz="1600" b="1" dirty="0">
                <a:solidFill>
                  <a:srgbClr val="6C4CF6"/>
                </a:solidFill>
                <a:latin typeface="Fujitsu Infinity Pro"/>
              </a:rPr>
              <a:t>) = 1/K  </a:t>
            </a:r>
            <a:r>
              <a:rPr sz="1600" b="1" dirty="0" err="1">
                <a:solidFill>
                  <a:srgbClr val="6C4CF6"/>
                </a:solidFill>
                <a:latin typeface="Fujitsu Infinity Pro"/>
              </a:rPr>
              <a:t>Σ</a:t>
            </a:r>
            <a:r>
              <a:rPr sz="1600" b="1" dirty="0">
                <a:solidFill>
                  <a:srgbClr val="6C4CF6"/>
                </a:solidFill>
                <a:latin typeface="Fujitsu Infinity Pro"/>
              </a:rPr>
              <a:t>ⱼ (0.3 Bᵢⱼ + 0.7 Rᵢⱼ)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56816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B: bug-revealing pass rate     R: regression pass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9432" y="1033271"/>
            <a:ext cx="1865376" cy="1261872"/>
          </a:xfrm>
          <a:prstGeom prst="roundRect">
            <a:avLst/>
          </a:prstGeom>
          <a:solidFill>
            <a:srgbClr val="FDEDE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99432" y="1033271"/>
            <a:ext cx="54864" cy="1261872"/>
          </a:xfrm>
          <a:prstGeom prst="rect">
            <a:avLst/>
          </a:prstGeom>
          <a:solidFill>
            <a:srgbClr val="E7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1170431"/>
            <a:ext cx="15361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2033"/>
                </a:solidFill>
                <a:latin typeface="Fujitsu Infinity Pro"/>
              </a:rPr>
              <a:t>No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609343"/>
            <a:ext cx="15179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878"/>
                </a:solidFill>
                <a:latin typeface="Fujitsu Infinity Pro"/>
              </a:rPr>
              <a:t>Hidden benchmark tests unavailable at selection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033271"/>
            <a:ext cx="1865376" cy="1261872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29400" y="1033271"/>
            <a:ext cx="54864" cy="1261872"/>
          </a:xfrm>
          <a:prstGeom prst="rect">
            <a:avLst/>
          </a:prstGeom>
          <a:solidFill>
            <a:srgbClr val="167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30568" y="1170431"/>
            <a:ext cx="15361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2033"/>
                </a:solidFill>
                <a:latin typeface="Fujitsu Infinity Pro"/>
              </a:rPr>
              <a:t>Deduplicate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609343"/>
            <a:ext cx="15179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878"/>
                </a:solidFill>
                <a:latin typeface="Fujitsu Infinity Pro"/>
              </a:rPr>
              <a:t>Content-identical patches are scored once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99432" y="2505456"/>
            <a:ext cx="1865376" cy="1261872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99432" y="2505456"/>
            <a:ext cx="54864" cy="1261872"/>
          </a:xfrm>
          <a:prstGeom prst="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0600" y="2642616"/>
            <a:ext cx="15361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2033"/>
                </a:solidFill>
                <a:latin typeface="Fujitsu Infinity Pro"/>
              </a:rPr>
              <a:t>Apply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081528"/>
            <a:ext cx="15179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878"/>
                </a:solidFill>
                <a:latin typeface="Fujitsu Infinity Pro"/>
              </a:rPr>
              <a:t>Non-applying patches are excluded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2505456"/>
            <a:ext cx="1865376" cy="1261872"/>
          </a:xfrm>
          <a:prstGeom prst="roundRect">
            <a:avLst/>
          </a:prstGeom>
          <a:solidFill>
            <a:srgbClr val="EAF8F4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29400" y="2505456"/>
            <a:ext cx="54864" cy="1261872"/>
          </a:xfrm>
          <a:prstGeom prst="rect">
            <a:avLst/>
          </a:prstGeom>
          <a:solidFill>
            <a:srgbClr val="0A9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30568" y="2642616"/>
            <a:ext cx="15361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2033"/>
                </a:solidFill>
                <a:latin typeface="Fujitsu Infinity Pro"/>
              </a:rPr>
              <a:t>Conservative tie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081528"/>
            <a:ext cx="1517904" cy="576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878"/>
                </a:solidFill>
                <a:latin typeface="Fujitsu Infinity Pro"/>
              </a:rPr>
              <a:t>Prefer the shortest patch within ε = 0.001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" y="2880360"/>
            <a:ext cx="3867912" cy="1252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" y="3118104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2033"/>
                </a:solidFill>
                <a:latin typeface="Fujitsu Infinity Pro"/>
              </a:rPr>
              <a:t>Tie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3054096"/>
            <a:ext cx="1993392" cy="374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6007F"/>
                </a:solidFill>
                <a:latin typeface="Fujitsu Infinity Pro"/>
              </a:rPr>
              <a:t>304 / 495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" y="3575304"/>
            <a:ext cx="3191256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878"/>
                </a:solidFill>
                <a:latin typeface="Fujitsu Infinity Pro"/>
              </a:rPr>
              <a:t>The selector actively reorders 302 / 495 instances.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690372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Fujitsu Infinity Pro"/>
              </a:rPr>
              <a:t>Compute–resolution envelope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92024"/>
            <a:ext cx="512063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23544"/>
            <a:ext cx="6620256" cy="3694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15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75" y="1014984"/>
            <a:ext cx="6207208" cy="34930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32904" y="1179576"/>
            <a:ext cx="1399032" cy="129844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79208" y="1289304"/>
            <a:ext cx="1106424" cy="7141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74EA"/>
                </a:solidFill>
                <a:latin typeface="Fujitsu Infinity Pro"/>
              </a:rPr>
              <a:t>653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932675"/>
            <a:ext cx="1143000" cy="3895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calls capture 80% of resolved issues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2904" y="2724912"/>
            <a:ext cx="1399032" cy="1298448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79208" y="2834640"/>
            <a:ext cx="1106424" cy="7141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F6C22"/>
                </a:solidFill>
                <a:latin typeface="Fujitsu Infinity Pro"/>
              </a:rPr>
              <a:t>1,069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478011"/>
            <a:ext cx="1143000" cy="3895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878"/>
                </a:solidFill>
                <a:latin typeface="Fujitsu Infinity Pro"/>
              </a:rPr>
              <a:t>calls capture 95%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690372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Fujitsu Infinity Pro"/>
              </a:rPr>
              <a:t>Reproducibility configuration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92024"/>
            <a:ext cx="512063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" y="1005840"/>
            <a:ext cx="3913632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93776" y="1005840"/>
            <a:ext cx="54864" cy="859536"/>
          </a:xfrm>
          <a:prstGeom prst="rect">
            <a:avLst/>
          </a:prstGeom>
          <a:solidFill>
            <a:srgbClr val="167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143000"/>
            <a:ext cx="3584448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2033"/>
                </a:solidFill>
                <a:latin typeface="Fujitsu Infinity Pro"/>
              </a:rPr>
              <a:t>Backbone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581912"/>
            <a:ext cx="3566160" cy="173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Qwen/Qwen3.5-27B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005840"/>
            <a:ext cx="3913632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440" y="1005840"/>
            <a:ext cx="54864" cy="859536"/>
          </a:xfrm>
          <a:prstGeom prst="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4607" y="1143000"/>
            <a:ext cx="3584448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2033"/>
                </a:solidFill>
                <a:latin typeface="Fujitsu Infinity Pro"/>
              </a:rPr>
              <a:t>Candidate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7" y="1581912"/>
            <a:ext cx="3566160" cy="173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r01_s1001 … r08_s1008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" y="2093976"/>
            <a:ext cx="3913632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3776" y="2093976"/>
            <a:ext cx="54864" cy="859536"/>
          </a:xfrm>
          <a:prstGeom prst="rect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" y="2231136"/>
            <a:ext cx="3584448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2033"/>
                </a:solidFill>
                <a:latin typeface="Fujitsu Infinity Pro"/>
              </a:rPr>
              <a:t>Agent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670048"/>
            <a:ext cx="3566160" cy="173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1,000 steps • 6 h instance timeout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093976"/>
            <a:ext cx="3913632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440" y="2093976"/>
            <a:ext cx="54864" cy="859536"/>
          </a:xfrm>
          <a:prstGeom prst="rect">
            <a:avLst/>
          </a:prstGeom>
          <a:solidFill>
            <a:srgbClr val="0A9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231136"/>
            <a:ext cx="3584448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2033"/>
                </a:solidFill>
                <a:latin typeface="Fujitsu Infinity Pro"/>
              </a:rPr>
              <a:t>Serving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7" y="2670048"/>
            <a:ext cx="3566160" cy="173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2-GPU tensor parallel • max context 150k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" y="3182112"/>
            <a:ext cx="3913632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3776" y="3182112"/>
            <a:ext cx="54864" cy="859536"/>
          </a:xfrm>
          <a:prstGeom prst="rect">
            <a:avLst/>
          </a:prstGeom>
          <a:solidFill>
            <a:srgbClr val="08A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" y="3319272"/>
            <a:ext cx="3584448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2033"/>
                </a:solidFill>
                <a:latin typeface="Fujitsu Infinity Pro"/>
              </a:rPr>
              <a:t>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3758184"/>
            <a:ext cx="3566160" cy="173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line_trace • caller_trace • line_edit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182112"/>
            <a:ext cx="3913632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63440" y="3182112"/>
            <a:ext cx="54864" cy="859536"/>
          </a:xfrm>
          <a:prstGeom prst="rect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64607" y="3319272"/>
            <a:ext cx="3584448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2033"/>
                </a:solidFill>
                <a:latin typeface="Fujitsu Infinity Pro"/>
              </a:rPr>
              <a:t>Analysis seed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4607" y="3758184"/>
            <a:ext cx="3566160" cy="173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878"/>
                </a:solidFill>
                <a:latin typeface="Fujitsu Infinity Pro"/>
              </a:rPr>
              <a:t>20260427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" y="4343400"/>
            <a:ext cx="8083296" cy="26517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4370832"/>
            <a:ext cx="7699248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Fujitsu Infinity Pro"/>
              </a:rPr>
              <a:t>Artifacts pin model identity and run provenance; model weights are external.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690372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Fujitsu Infinity Pro"/>
              </a:rPr>
              <a:t>Evidence boundary and threats to validity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92024"/>
            <a:ext cx="512063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024128"/>
            <a:ext cx="1362456" cy="457200"/>
          </a:xfrm>
          <a:prstGeom prst="roundRect">
            <a:avLst/>
          </a:prstGeom>
          <a:solidFill>
            <a:srgbClr val="0A9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1124712"/>
            <a:ext cx="12161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Fujitsu Infinity Pro"/>
              </a:rPr>
              <a:t>Ablated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024128"/>
            <a:ext cx="656539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21992" y="1124712"/>
            <a:ext cx="61447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2033"/>
                </a:solidFill>
                <a:latin typeface="Fujitsu Infinity Pro"/>
              </a:rPr>
              <a:t>Candidate count K=8; cross-agent selector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682496"/>
            <a:ext cx="1362456" cy="457200"/>
          </a:xfrm>
          <a:prstGeom prst="roundRect">
            <a:avLst/>
          </a:prstGeom>
          <a:solidFill>
            <a:srgbClr val="167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83080"/>
            <a:ext cx="12161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Fujitsu Infinity Pro"/>
              </a:rPr>
              <a:t>Sensitivity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682496"/>
            <a:ext cx="656539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21992" y="1783080"/>
            <a:ext cx="61447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2033"/>
                </a:solidFill>
                <a:latin typeface="Fujitsu Infinity Pro"/>
              </a:rPr>
              <a:t>Selector weights: ≤ 5 / 500 outcome change nearby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2340864"/>
            <a:ext cx="1362456" cy="457200"/>
          </a:xfrm>
          <a:prstGeom prst="roundRect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2441448"/>
            <a:ext cx="12161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Fujitsu Infinity Pro"/>
              </a:rPr>
              <a:t>Operational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2340864"/>
            <a:ext cx="656539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21992" y="2441448"/>
            <a:ext cx="61447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2033"/>
                </a:solidFill>
                <a:latin typeface="Fujitsu Infinity Pro"/>
              </a:rPr>
              <a:t>Phase graph, handover, formatter, tools, CI reuse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2999232"/>
            <a:ext cx="1362456" cy="457200"/>
          </a:xfrm>
          <a:prstGeom prst="roundRect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" y="3099816"/>
            <a:ext cx="12161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Fujitsu Infinity Pro"/>
              </a:rPr>
              <a:t>Estimate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2999232"/>
            <a:ext cx="656539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21992" y="3099816"/>
            <a:ext cx="61447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2033"/>
                </a:solidFill>
                <a:latin typeface="Fujitsu Infinity Pro"/>
              </a:rPr>
              <a:t>Engineer-minute saving; wall-clock-derived GPU bound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3657600"/>
            <a:ext cx="1362456" cy="457200"/>
          </a:xfrm>
          <a:prstGeom prst="roundRect">
            <a:avLst/>
          </a:prstGeom>
          <a:solidFill>
            <a:srgbClr val="E7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" y="3758184"/>
            <a:ext cx="12161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Fujitsu Infinity Pro"/>
              </a:rPr>
              <a:t>Out of scope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3657600"/>
            <a:ext cx="656539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21992" y="3758184"/>
            <a:ext cx="61447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2033"/>
                </a:solidFill>
                <a:latin typeface="Fujitsu Infinity Pro"/>
              </a:rPr>
              <a:t>Production deployment and developer field study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4443984"/>
            <a:ext cx="8046720" cy="173736"/>
          </a:xfrm>
          <a:prstGeom prst="roundRect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91440"/>
            <a:ext cx="6812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Fujitsu Infinity Pro"/>
              </a:rPr>
              <a:t>Paper Figure 2 — Kozuchi Agent construction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87452"/>
            <a:ext cx="51206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183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5F6878"/>
                </a:solidFill>
                <a:latin typeface="Fujitsu Infinity Pro"/>
              </a:rPr>
              <a:t>The broad pipeline and the expanded internals of one auditable candidate trajectory.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50976"/>
            <a:ext cx="8275320" cy="3547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47" y="1005840"/>
            <a:ext cx="7812472" cy="33649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5488" y="4416552"/>
            <a:ext cx="8193024" cy="310896"/>
          </a:xfrm>
          <a:prstGeom prst="roundRect">
            <a:avLst>
              <a:gd name="adj" fmla="val 8000"/>
            </a:avLst>
          </a:prstGeom>
          <a:solidFill>
            <a:srgbClr val="18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4453128"/>
            <a:ext cx="782726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FFFFFF"/>
                </a:solidFill>
                <a:latin typeface="Fujitsu Infinity Pro"/>
              </a:rPr>
              <a:t>K = 8 candidate trajectories • durable shared state • deterministic tools • K×K selector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91440"/>
            <a:ext cx="6812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Fujitsu Infinity Pro"/>
              </a:rPr>
              <a:t>Algorithm 1 — phase-driven repair orchestration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87452"/>
            <a:ext cx="51206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183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5F6878"/>
                </a:solidFill>
                <a:latin typeface="Fujitsu Infinity Pro"/>
              </a:rPr>
              <a:t>Inputs: issue I, repository R, phase graph Φ, skills K, tools T, grammar A, state S, limits 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69264"/>
            <a:ext cx="4050791" cy="345643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54296" y="969264"/>
            <a:ext cx="4050791" cy="345643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152144"/>
            <a:ext cx="3685032" cy="3072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01  p ← p_reproduce; H,M,τ ← ∅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02  while p ≠ p_final do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03    Kp ← phase/tool-gated skills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04    Cp ← Render(I,R,Φ[p],Kp,S,M,H)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05    e ← ⊥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06    while e = ⊥ do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07      y ← LLM(Cp,H)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08      a ← Parse_A(y)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09      if a = ⊥: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10        o ← FormatError(y,A)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11      else: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12        o ← SandboxExec(a,R,T)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13        S ← UpdateArtifacts(S,p,a,o)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14      H,τ ← append(y,a,o,S)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15      e ← ExitMarker(y,o)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7176" y="1152144"/>
            <a:ext cx="3685032" cy="3072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16      if e = ⊥ ∧ OverBudget(...):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17        m ← Compress(H,S,p)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18        S ← S ∪ {m}; H ← ∅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19        Cp ← Render(...,S,M,H)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20      end if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21    end while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22    (p,M) ← PhaseHandover(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23                 Φ,p,e,H,S,M)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24    // write memo + follow next/fallback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25  end while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26  (Δ,ρ) ← CollectFinalArtifacts(S,M)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27  return (Δ,ρ,τ)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sz="919" b="0">
              <a:solidFill>
                <a:srgbClr val="182033"/>
              </a:solidFill>
              <a:latin typeface="Aptos Mono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Every malformed action is recorded.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82033"/>
                </a:solidFill>
                <a:latin typeface="Aptos Mono"/>
              </a:rPr>
              <a:t>Every phase exit persists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4480560"/>
            <a:ext cx="8193024" cy="310896"/>
          </a:xfrm>
          <a:prstGeom prst="roundRect">
            <a:avLst>
              <a:gd name="adj" fmla="val 8000"/>
            </a:avLst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4517136"/>
            <a:ext cx="782726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FFFFFF"/>
                </a:solidFill>
                <a:latin typeface="Fujitsu Infinity Pro"/>
              </a:rPr>
              <a:t>Output: candidate patch Δ • final report ρ • complete trajectory bundle 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91440"/>
            <a:ext cx="6812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Fujitsu Infinity Pro"/>
              </a:rPr>
              <a:t>Selector algorithm — turn candidate diversity into execution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87452"/>
            <a:ext cx="51206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183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5F6878"/>
                </a:solidFill>
                <a:latin typeface="Fujitsu Infinity Pro"/>
              </a:rPr>
              <a:t>No hidden benchmark tests and no learned verifier are available at selection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161288"/>
            <a:ext cx="1536192" cy="1965960"/>
          </a:xfrm>
          <a:prstGeom prst="roundRect">
            <a:avLst>
              <a:gd name="adj" fmla="val 8000"/>
            </a:avLst>
          </a:prstGeom>
          <a:solidFill>
            <a:srgbClr val="EEF5FF"/>
          </a:solidFill>
          <a:ln w="10160">
            <a:solidFill>
              <a:srgbClr val="167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12064" y="1298448"/>
            <a:ext cx="347472" cy="347472"/>
          </a:xfrm>
          <a:prstGeom prst="ellipse">
            <a:avLst/>
          </a:prstGeom>
          <a:solidFill>
            <a:srgbClr val="167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" y="1298448"/>
            <a:ext cx="3474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Fujitsu Infinity Pr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289304"/>
            <a:ext cx="8595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82033"/>
                </a:solidFill>
                <a:latin typeface="Fujitsu Infinity Pro"/>
              </a:rP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47088"/>
            <a:ext cx="128016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F6878"/>
                </a:solidFill>
                <a:latin typeface="Fujitsu Infinity Pro"/>
              </a:rPr>
              <a:t>K patches + each run’s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F6878"/>
                </a:solidFill>
                <a:latin typeface="Fujitsu Infinity Pro"/>
              </a:rPr>
              <a:t>bug and regression tests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47672" y="1965960"/>
            <a:ext cx="182880" cy="201168"/>
          </a:xfrm>
          <a:prstGeom prst="rightArrow">
            <a:avLst/>
          </a:prstGeom>
          <a:solidFill>
            <a:srgbClr val="8C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139696" y="1161288"/>
            <a:ext cx="1536192" cy="1965960"/>
          </a:xfrm>
          <a:prstGeom prst="roundRect">
            <a:avLst>
              <a:gd name="adj" fmla="val 8000"/>
            </a:avLst>
          </a:prstGeom>
          <a:solidFill>
            <a:srgbClr val="FFF5EC"/>
          </a:solidFill>
          <a:ln w="10160">
            <a:solidFill>
              <a:srgbClr val="EF6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249424" y="1298448"/>
            <a:ext cx="347472" cy="347472"/>
          </a:xfrm>
          <a:prstGeom prst="ellipse">
            <a:avLst/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49424" y="1298448"/>
            <a:ext cx="3474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Fujitsu Infinity Pr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1289304"/>
            <a:ext cx="8595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82033"/>
                </a:solidFill>
                <a:latin typeface="Fujitsu Infinity Pro"/>
              </a:rPr>
              <a:t>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1847088"/>
            <a:ext cx="128016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F6878"/>
                </a:solidFill>
                <a:latin typeface="Fujitsu Infinity Pro"/>
              </a:rPr>
              <a:t>Deduplicate patches;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F6878"/>
                </a:solidFill>
                <a:latin typeface="Fujitsu Infinity Pro"/>
              </a:rPr>
              <a:t>exclude apply failures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685031" y="1965960"/>
            <a:ext cx="182880" cy="201168"/>
          </a:xfrm>
          <a:prstGeom prst="rightArrow">
            <a:avLst/>
          </a:prstGeom>
          <a:solidFill>
            <a:srgbClr val="8C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877056" y="1161288"/>
            <a:ext cx="1536192" cy="1965960"/>
          </a:xfrm>
          <a:prstGeom prst="roundRect">
            <a:avLst>
              <a:gd name="adj" fmla="val 8000"/>
            </a:avLst>
          </a:prstGeom>
          <a:solidFill>
            <a:srgbClr val="F3F0FF"/>
          </a:solidFill>
          <a:ln w="10160">
            <a:solidFill>
              <a:srgbClr val="6C4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986784" y="1298448"/>
            <a:ext cx="347472" cy="347472"/>
          </a:xfrm>
          <a:prstGeom prst="ellipse">
            <a:avLst/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86784" y="1298448"/>
            <a:ext cx="3474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Fujitsu Infinity Pr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1289304"/>
            <a:ext cx="8595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82033"/>
                </a:solidFill>
                <a:latin typeface="Fujitsu Infinity Pro"/>
              </a:rPr>
              <a:t>Cross-apply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5072" y="1847088"/>
            <a:ext cx="128016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F6878"/>
                </a:solidFill>
                <a:latin typeface="Fujitsu Infinity Pro"/>
              </a:rPr>
              <a:t>Run suite j against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F6878"/>
                </a:solidFill>
                <a:latin typeface="Fujitsu Infinity Pro"/>
              </a:rPr>
              <a:t>candidate patch i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22392" y="1965960"/>
            <a:ext cx="182880" cy="201168"/>
          </a:xfrm>
          <a:prstGeom prst="rightArrow">
            <a:avLst/>
          </a:prstGeom>
          <a:solidFill>
            <a:srgbClr val="8C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614416" y="1161288"/>
            <a:ext cx="1536192" cy="1965960"/>
          </a:xfrm>
          <a:prstGeom prst="roundRect">
            <a:avLst>
              <a:gd name="adj" fmla="val 8000"/>
            </a:avLst>
          </a:prstGeom>
          <a:solidFill>
            <a:srgbClr val="ECF8F4"/>
          </a:solidFill>
          <a:ln w="10160">
            <a:solidFill>
              <a:srgbClr val="0A9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724144" y="1298448"/>
            <a:ext cx="347472" cy="347472"/>
          </a:xfrm>
          <a:prstGeom prst="ellipse">
            <a:avLst/>
          </a:prstGeom>
          <a:solidFill>
            <a:srgbClr val="0A9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24144" y="1298448"/>
            <a:ext cx="3474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Fujitsu Infinity Pr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1289304"/>
            <a:ext cx="8595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82033"/>
                </a:solidFill>
                <a:latin typeface="Fujitsu Infinity Pro"/>
              </a:rPr>
              <a:t>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1" y="1847088"/>
            <a:ext cx="128016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F6878"/>
                </a:solidFill>
                <a:latin typeface="Fujitsu Infinity Pro"/>
              </a:rPr>
              <a:t>0.3 × bug pass rate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F6878"/>
                </a:solidFill>
                <a:latin typeface="Fujitsu Infinity Pro"/>
              </a:rPr>
              <a:t>+ 0.7 × regression rate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159752" y="1965960"/>
            <a:ext cx="182880" cy="201168"/>
          </a:xfrm>
          <a:prstGeom prst="rightArrow">
            <a:avLst/>
          </a:prstGeom>
          <a:solidFill>
            <a:srgbClr val="8C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351775" y="1161288"/>
            <a:ext cx="1536192" cy="1965960"/>
          </a:xfrm>
          <a:prstGeom prst="roundRect">
            <a:avLst>
              <a:gd name="adj" fmla="val 8000"/>
            </a:avLst>
          </a:prstGeom>
          <a:solidFill>
            <a:srgbClr val="FFF0F8"/>
          </a:solidFill>
          <a:ln w="10160">
            <a:solidFill>
              <a:srgbClr val="D6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461503" y="1298448"/>
            <a:ext cx="347472" cy="347472"/>
          </a:xfrm>
          <a:prstGeom prst="ellipse">
            <a:avLst/>
          </a:prstGeom>
          <a:solidFill>
            <a:srgbClr val="D6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61503" y="1298448"/>
            <a:ext cx="3474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Fujitsu Infinity Pro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1289304"/>
            <a:ext cx="8595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82033"/>
                </a:solidFill>
                <a:latin typeface="Fujitsu Infinity Pro"/>
              </a:rPr>
              <a:t>Select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1847088"/>
            <a:ext cx="128016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F6878"/>
                </a:solidFill>
                <a:latin typeface="Fujitsu Infinity Pro"/>
              </a:rPr>
              <a:t>arg max; shortest patch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F6878"/>
                </a:solidFill>
                <a:latin typeface="Fujitsu Infinity Pro"/>
              </a:rPr>
              <a:t>within ε = 0.001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" y="3410712"/>
            <a:ext cx="7973568" cy="713232"/>
          </a:xfrm>
          <a:prstGeom prst="roundRect">
            <a:avLst>
              <a:gd name="adj" fmla="val 8000"/>
            </a:avLst>
          </a:prstGeom>
          <a:solidFill>
            <a:srgbClr val="18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" y="3566160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Fujitsu Infinity Pro"/>
              </a:rPr>
              <a:t>score(i) = (1/K) Σⱼ [0.3 Bᵢⱼ + 0.7 Rᵢⱼ]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584448"/>
            <a:ext cx="35112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Fujitsu Infinity Pro"/>
              </a:rPr>
              <a:t>21,635 matrix executions  •  302/495 candidates reordered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91440"/>
            <a:ext cx="6812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FFFFF"/>
                </a:solidFill>
                <a:latin typeface="Fujitsu Infinity Pro"/>
              </a:rPr>
              <a:t>Paper Table 2 — per-evaluation-cycle workflow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87452"/>
            <a:ext cx="51206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183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5F6878"/>
                </a:solidFill>
                <a:latin typeface="Fujitsu Infinity Pro"/>
              </a:rPr>
              <a:t>Operational impact is scoped to the internal benchmark pipeline replacement.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078992"/>
          <a:ext cx="813816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Fujitsu Infinity Pro"/>
                        </a:rPr>
                        <a:t>Aspect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Fujitsu Infinity Pro"/>
                        </a:rPr>
                        <a:t>Pre-Kozuchi agent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Fujitsu Infinity Pro"/>
                        </a:rPr>
                        <a:t>Kozuchi agent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82033"/>
                          </a:solidFill>
                          <a:latin typeface="Fujitsu Infinity Pro"/>
                        </a:rPr>
                        <a:t>Operator touch-points / cycle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>
                          <a:solidFill>
                            <a:srgbClr val="182033"/>
                          </a:solidFill>
                          <a:latin typeface="Fujitsu Infinity Pro"/>
                        </a:rPr>
                        <a:t>5: vLLM, launch, wait, grade, log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>
                          <a:solidFill>
                            <a:srgbClr val="182033"/>
                          </a:solidFill>
                          <a:latin typeface="Fujitsu Infinity Pro"/>
                        </a:rPr>
                        <a:t>1: CI push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82033"/>
                          </a:solidFill>
                          <a:latin typeface="Fujitsu Infinity Pro"/>
                        </a:rPr>
                        <a:t>Operator effort / cycle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>
                          <a:solidFill>
                            <a:srgbClr val="5F6878"/>
                          </a:solidFill>
                          <a:latin typeface="Fujitsu Infinity Pro"/>
                        </a:rPr>
                        <a:t>≈75 min (estimate)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>
                          <a:solidFill>
                            <a:srgbClr val="5F6878"/>
                          </a:solidFill>
                          <a:latin typeface="Fujitsu Infinity Pro"/>
                        </a:rPr>
                        <a:t>≈5 min (estimate)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82033"/>
                          </a:solidFill>
                          <a:latin typeface="Fujitsu Infinity Pro"/>
                        </a:rPr>
                        <a:t>Backend integrations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>
                          <a:solidFill>
                            <a:srgbClr val="5F6878"/>
                          </a:solidFill>
                          <a:latin typeface="Fujitsu Infinity Pro"/>
                        </a:rPr>
                        <a:t>Separate integration effort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>
                          <a:solidFill>
                            <a:srgbClr val="5F6878"/>
                          </a:solidFill>
                          <a:latin typeface="Fujitsu Infinity Pro"/>
                        </a:rPr>
                        <a:t>4 formats × 17 model configs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82033"/>
                          </a:solidFill>
                          <a:latin typeface="Fujitsu Infinity Pro"/>
                        </a:rPr>
                        <a:t>Reusable pipeline stages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>
                          <a:solidFill>
                            <a:srgbClr val="182033"/>
                          </a:solidFill>
                          <a:latin typeface="Fujitsu Infinity Pro"/>
                        </a:rPr>
                        <a:t>0 of 9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>
                          <a:solidFill>
                            <a:srgbClr val="182033"/>
                          </a:solidFill>
                          <a:latin typeface="Fujitsu Infinity Pro"/>
                        </a:rPr>
                        <a:t>6 of 9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82033"/>
                          </a:solidFill>
                          <a:latin typeface="Fujitsu Infinity Pro"/>
                        </a:rPr>
                        <a:t>Cluster targets / abstraction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>
                          <a:solidFill>
                            <a:srgbClr val="5F6878"/>
                          </a:solidFill>
                          <a:latin typeface="Fujitsu Infinity Pro"/>
                        </a:rPr>
                        <a:t>Per-cluster scripts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>
                          <a:solidFill>
                            <a:srgbClr val="5F6878"/>
                          </a:solidFill>
                          <a:latin typeface="Fujitsu Infinity Pro"/>
                        </a:rPr>
                        <a:t>5 via ENV_NAME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82033"/>
                          </a:solidFill>
                          <a:latin typeface="Fujitsu Infinity Pro"/>
                        </a:rPr>
                        <a:t>Score provenance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>
                          <a:solidFill>
                            <a:srgbClr val="5F6878"/>
                          </a:solidFill>
                          <a:latin typeface="Fujitsu Infinity Pro"/>
                        </a:rPr>
                        <a:t>Manual score log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>
                          <a:solidFill>
                            <a:srgbClr val="5F6878"/>
                          </a:solidFill>
                          <a:latin typeface="Fujitsu Infinity Pro"/>
                        </a:rPr>
                        <a:t>495 trajectories + selection JSON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82033"/>
                          </a:solidFill>
                          <a:latin typeface="Fujitsu Infinity Pro"/>
                        </a:rPr>
                        <a:t>Patch applicability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>
                          <a:solidFill>
                            <a:srgbClr val="182033"/>
                          </a:solidFill>
                          <a:latin typeface="Fujitsu Infinity Pro"/>
                        </a:rPr>
                        <a:t>Not measured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0">
                          <a:solidFill>
                            <a:srgbClr val="182033"/>
                          </a:solidFill>
                          <a:latin typeface="Fujitsu Infinity Pro"/>
                        </a:rPr>
                        <a:t>494/495 clean apply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75488" y="4498848"/>
            <a:ext cx="8193024" cy="310896"/>
          </a:xfrm>
          <a:prstGeom prst="roundRect">
            <a:avLst>
              <a:gd name="adj" fmla="val 8000"/>
            </a:avLst>
          </a:prstGeom>
          <a:solidFill>
            <a:srgbClr val="EF6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4535424"/>
            <a:ext cx="782726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FFFFFF"/>
                </a:solidFill>
                <a:latin typeface="Fujitsu Infinity Pro"/>
              </a:rPr>
              <a:t>The ≈70 engineer-minute reduction is an order-of-magnitude estimate, not a controlled developer study.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91440"/>
            <a:ext cx="6812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Fujitsu Infinity Pro"/>
              </a:rPr>
              <a:t>Paper Table 3 — cross-agent selector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87452"/>
            <a:ext cx="51206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183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5F6878"/>
                </a:solidFill>
                <a:latin typeface="Fujitsu Infinity Pro"/>
              </a:rPr>
              <a:t>The selector actively re-ranks patches on execution evidence and uses a conservative tie-break.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072" y="1133856"/>
          <a:ext cx="7991855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76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Fujitsu Infinity Pro"/>
                        </a:rPr>
                        <a:t>Quantity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Fujitsu Infinity Pro"/>
                        </a:rPr>
                        <a:t>Value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Fujitsu Infinity Pro"/>
                        </a:rPr>
                        <a:t>Quantity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Fujitsu Infinity Pro"/>
                        </a:rPr>
                        <a:t>Value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033"/>
                          </a:solidFill>
                          <a:latin typeface="Fujitsu Infinity Pro"/>
                        </a:rPr>
                        <a:t>Expected (Verified)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500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wB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0.3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033"/>
                          </a:solidFill>
                          <a:latin typeface="Fujitsu Infinity Pro"/>
                        </a:rPr>
                        <a:t>Selected / covered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495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wR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0.7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033"/>
                          </a:solidFill>
                          <a:latin typeface="Fujitsu Infinity Pro"/>
                        </a:rPr>
                        <a:t>Resolved (xcheck)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376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Tie ε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0.001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033"/>
                          </a:solidFill>
                          <a:latin typeface="Fujitsu Infinity Pro"/>
                        </a:rPr>
                        <a:t>Score / expected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75.2%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Tie-breaker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shortest patch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033"/>
                          </a:solidFill>
                          <a:latin typeface="Fujitsu Infinity Pro"/>
                        </a:rPr>
                        <a:t>Order baseline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362 (72.4%)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Tie applied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304 / 495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033"/>
                          </a:solidFill>
                          <a:latin typeface="Fujitsu Infinity Pro"/>
                        </a:rPr>
                        <a:t>Unique patches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5.59 / 8 mean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Matrix executions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21,635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033"/>
                          </a:solidFill>
                          <a:latin typeface="Fujitsu Infinity Pro"/>
                        </a:rPr>
                        <a:t>Reordered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302 / 495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Official evaluator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374 / 500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75488" y="4480560"/>
            <a:ext cx="8193024" cy="310896"/>
          </a:xfrm>
          <a:prstGeom prst="roundRect">
            <a:avLst>
              <a:gd name="adj" fmla="val 8000"/>
            </a:avLst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4517136"/>
            <a:ext cx="782726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FFFFFF"/>
                </a:solidFill>
                <a:latin typeface="Fujitsu Infinity Pro"/>
              </a:rPr>
              <a:t>Cross-agent selection adds +14 resolved over the first-run-wins order baseline.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91440"/>
            <a:ext cx="6812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Fujitsu Infinity Pro"/>
              </a:rPr>
              <a:t>Paper Table 4 — candidate-level TTS@8 decomposition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87452"/>
            <a:ext cx="51206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183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5F6878"/>
                </a:solidFill>
                <a:latin typeface="Fujitsu Infinity Pro"/>
              </a:rPr>
              <a:t>Only the 174 marginal instances expose a genuine selector choice.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078992"/>
          <a:ext cx="795528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1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Fujitsu Infinity Pro"/>
                        </a:rPr>
                        <a:t>Quantity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Fujitsu Infinity Pro"/>
                        </a:rPr>
                        <a:t>Interpretation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Fujitsu Infinity Pro"/>
                        </a:rPr>
                        <a:t>Value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182033"/>
                          </a:solidFill>
                          <a:latin typeface="Fujitsu Infinity Pro"/>
                        </a:rPr>
                        <a:t>Mean pass@1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5F6878"/>
                          </a:solidFill>
                          <a:latin typeface="Fujitsu Infinity Pro"/>
                        </a:rPr>
                        <a:t>Average over eight runs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5F6878"/>
                          </a:solidFill>
                          <a:latin typeface="Fujitsu Infinity Pro"/>
                        </a:rPr>
                        <a:t>67.7%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182033"/>
                          </a:solidFill>
                          <a:latin typeface="Fujitsu Infinity Pro"/>
                        </a:rPr>
                        <a:t>All-run solved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5F6878"/>
                          </a:solidFill>
                          <a:latin typeface="Fujitsu Infinity Pro"/>
                        </a:rPr>
                        <a:t>ri = 8: scaffold-easy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5F6878"/>
                          </a:solidFill>
                          <a:latin typeface="Fujitsu Infinity Pro"/>
                        </a:rPr>
                        <a:t>234 / 500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182033"/>
                          </a:solidFill>
                          <a:latin typeface="Fujitsu Infinity Pro"/>
                        </a:rPr>
                        <a:t>Zero-run solved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5F6878"/>
                          </a:solidFill>
                          <a:latin typeface="Fujitsu Infinity Pro"/>
                        </a:rPr>
                        <a:t>ri = 0: scaffold-hard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5F6878"/>
                          </a:solidFill>
                          <a:latin typeface="Fujitsu Infinity Pro"/>
                        </a:rPr>
                        <a:t>92 / 500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182033"/>
                          </a:solidFill>
                          <a:latin typeface="Fujitsu Infinity Pro"/>
                        </a:rPr>
                        <a:t>Marginal instances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82033"/>
                          </a:solidFill>
                          <a:latin typeface="Fujitsu Infinity Pro"/>
                        </a:rPr>
                        <a:t>1 ≤ ri ≤ 7: selector-sensitive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82033"/>
                          </a:solidFill>
                          <a:latin typeface="Fujitsu Infinity Pro"/>
                        </a:rPr>
                        <a:t>174 / 500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182033"/>
                          </a:solidFill>
                          <a:latin typeface="Fujitsu Infinity Pro"/>
                        </a:rPr>
                        <a:t>Oracle pass@8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82033"/>
                          </a:solidFill>
                          <a:latin typeface="Fujitsu Infinity Pro"/>
                        </a:rPr>
                        <a:t>Any run resolves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82033"/>
                          </a:solidFill>
                          <a:latin typeface="Fujitsu Infinity Pro"/>
                        </a:rPr>
                        <a:t>408 / 500 = 81.6%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182033"/>
                          </a:solidFill>
                          <a:latin typeface="Fujitsu Infinity Pro"/>
                        </a:rPr>
                        <a:t>Cross-agent selector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82033"/>
                          </a:solidFill>
                          <a:latin typeface="Fujitsu Infinity Pro"/>
                        </a:rPr>
                        <a:t>Official evaluator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82033"/>
                          </a:solidFill>
                          <a:latin typeface="Fujitsu Infinity Pro"/>
                        </a:rPr>
                        <a:t>374 / 500 = 74.8%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182033"/>
                          </a:solidFill>
                          <a:latin typeface="Fujitsu Infinity Pro"/>
                        </a:rPr>
                        <a:t>Selector regret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82033"/>
                          </a:solidFill>
                          <a:latin typeface="Fujitsu Infinity Pro"/>
                        </a:rPr>
                        <a:t>Oracle minus submitted result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82033"/>
                          </a:solidFill>
                          <a:latin typeface="Fujitsu Infinity Pro"/>
                        </a:rPr>
                        <a:t>34 / 500 = 6.8 pp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75488" y="4498848"/>
            <a:ext cx="8193024" cy="310896"/>
          </a:xfrm>
          <a:prstGeom prst="roundRect">
            <a:avLst>
              <a:gd name="adj" fmla="val 8000"/>
            </a:avLst>
          </a:prstGeom>
          <a:solidFill>
            <a:srgbClr val="18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4535424"/>
            <a:ext cx="782726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FFFFFF"/>
                </a:solidFill>
                <a:latin typeface="Fujitsu Infinity Pro"/>
              </a:rPr>
              <a:t>376/408 = 92.2% of the internal Docker oracle union is captured; 92 issues have no solving candidate.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91440"/>
            <a:ext cx="6812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FFFFF"/>
                </a:solidFill>
                <a:latin typeface="Fujitsu Infinity Pro"/>
              </a:rPr>
              <a:t>Paper Table 5 — SWE-bench Verified resolution by repository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87452"/>
            <a:ext cx="51206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183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5F6878"/>
                </a:solidFill>
                <a:latin typeface="Fujitsu Infinity Pro"/>
              </a:rPr>
              <a:t>Canonical denominator: 500 instances; official evaluator headline: 374 resolved.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393192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39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Fujitsu Infinity Pro"/>
                        </a:rPr>
                        <a:t>Repository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Fujitsu Infinity Pro"/>
                        </a:rPr>
                        <a:t>Resolved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Fujitsu Infinity Pro"/>
                        </a:rPr>
                        <a:t>Rate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39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astropy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13 / 22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59.1%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39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django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82033"/>
                          </a:solidFill>
                          <a:latin typeface="Fujitsu Infinity Pro"/>
                        </a:rPr>
                        <a:t>177 / 231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82033"/>
                          </a:solidFill>
                          <a:latin typeface="Fujitsu Infinity Pro"/>
                        </a:rPr>
                        <a:t>76.6%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39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matplotlib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23 / 34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67.7%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39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seaborn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1 / 2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50.0%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39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flask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1 / 1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100.0%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4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requests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8 / 8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100.0%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09160" y="1143000"/>
          <a:ext cx="393192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39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Fujitsu Infinity Pro"/>
                        </a:rPr>
                        <a:t>Repository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Fujitsu Infinity Pro"/>
                        </a:rPr>
                        <a:t>Resolved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Fujitsu Infinity Pro"/>
                        </a:rPr>
                        <a:t>Rate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39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xarray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18 / 22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81.8%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39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pylint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3 / 10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30.0%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39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pytest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82033"/>
                          </a:solidFill>
                          <a:latin typeface="Fujitsu Infinity Pro"/>
                        </a:rPr>
                        <a:t>16 / 19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82033"/>
                          </a:solidFill>
                          <a:latin typeface="Fujitsu Infinity Pro"/>
                        </a:rPr>
                        <a:t>84.2%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39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scikit-learn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82033"/>
                          </a:solidFill>
                          <a:latin typeface="Fujitsu Infinity Pro"/>
                        </a:rPr>
                        <a:t>27 / 32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82033"/>
                          </a:solidFill>
                          <a:latin typeface="Fujitsu Infinity Pro"/>
                        </a:rPr>
                        <a:t>84.4%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39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sphinx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30 / 44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68.2%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4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sympy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57 / 75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76.0%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596896" y="4224528"/>
            <a:ext cx="3950208" cy="438912"/>
          </a:xfrm>
          <a:prstGeom prst="roundRect">
            <a:avLst>
              <a:gd name="adj" fmla="val 8000"/>
            </a:avLst>
          </a:prstGeom>
          <a:solidFill>
            <a:srgbClr val="18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430682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Fujitsu Infinity Pro"/>
              </a:rPr>
              <a:t>OVERALL   374 / 500   =   74.8%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91440"/>
            <a:ext cx="6812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FFFFF"/>
                </a:solidFill>
                <a:latin typeface="Fujitsu Infinity Pro"/>
              </a:rPr>
              <a:t>Paper Table 6 — failure taxonomy and edit-layer reliability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87452"/>
            <a:ext cx="51206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183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5F6878"/>
                </a:solidFill>
                <a:latin typeface="Fujitsu Infinity Pro"/>
              </a:rPr>
              <a:t>The residual gap is semantic correctness, not malformed or empty patches.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115568"/>
          <a:ext cx="4754879" cy="323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4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Fujitsu Infinity Pro"/>
                        </a:rPr>
                        <a:t>Category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Fujitsu Infinity Pro"/>
                        </a:rPr>
                        <a:t>Count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Fujitsu Infinity Pro"/>
                        </a:rPr>
                        <a:t>Share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4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WRONG_FIX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82033"/>
                          </a:solidFill>
                          <a:latin typeface="Fujitsu Infinity Pro"/>
                        </a:rPr>
                        <a:t>115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82033"/>
                          </a:solidFill>
                          <a:latin typeface="Fujitsu Infinity Pro"/>
                        </a:rPr>
                        <a:t>91.3%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4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REGRESSION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6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4.8%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4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MISSING_ARTEFACT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5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4.0%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4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PATCH_DID_NOT_APPLY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0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0.0%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4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EMPTY_PATCH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0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5F6878"/>
                          </a:solidFill>
                          <a:latin typeface="Fujitsu Infinity Pro"/>
                        </a:rPr>
                        <a:t>0.0%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42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82033"/>
                          </a:solidFill>
                          <a:latin typeface="Fujitsu Infinity Pro"/>
                        </a:rPr>
                        <a:t>Total unresolved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82033"/>
                          </a:solidFill>
                          <a:latin typeface="Fujitsu Infinity Pro"/>
                        </a:rPr>
                        <a:t>126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82033"/>
                          </a:solidFill>
                          <a:latin typeface="Fujitsu Infinity Pro"/>
                        </a:rPr>
                        <a:t>100.0%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596128" y="1161288"/>
            <a:ext cx="2962656" cy="1353312"/>
          </a:xfrm>
          <a:prstGeom prst="roundRect">
            <a:avLst>
              <a:gd name="adj" fmla="val 8000"/>
            </a:avLst>
          </a:prstGeom>
          <a:solidFill>
            <a:srgbClr val="ECF8F4"/>
          </a:solidFill>
          <a:ln w="1016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42432" y="1271016"/>
            <a:ext cx="2670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9D7A"/>
                </a:solidFill>
                <a:latin typeface="Fujitsu Infinity Pro"/>
              </a:rPr>
              <a:t>494 / 495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42432" y="1691640"/>
            <a:ext cx="2670048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F6878"/>
                </a:solidFill>
                <a:latin typeface="Fujitsu Infinity Pro"/>
              </a:rPr>
              <a:t>produced patches apply cleanly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96128" y="2706624"/>
            <a:ext cx="2962656" cy="1353312"/>
          </a:xfrm>
          <a:prstGeom prst="roundRect">
            <a:avLst>
              <a:gd name="adj" fmla="val 8000"/>
            </a:avLst>
          </a:prstGeom>
          <a:solidFill>
            <a:srgbClr val="EEF5FF"/>
          </a:solidFill>
          <a:ln w="1016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42432" y="2816352"/>
            <a:ext cx="2670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74EA"/>
                </a:solidFill>
                <a:latin typeface="Fujitsu Infinity Pro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432" y="3236976"/>
            <a:ext cx="2670048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F6878"/>
                </a:solidFill>
                <a:latin typeface="Fujitsu Infinity Pro"/>
              </a:rPr>
              <a:t>malformed-diff or empty-patch failures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4480560"/>
            <a:ext cx="8193024" cy="310896"/>
          </a:xfrm>
          <a:prstGeom prst="roundRect">
            <a:avLst>
              <a:gd name="adj" fmla="val 8000"/>
            </a:avLst>
          </a:prstGeom>
          <a:solidFill>
            <a:srgbClr val="E7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4517136"/>
            <a:ext cx="782726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FFFFFF"/>
                </a:solidFill>
                <a:latin typeface="Fujitsu Infinity Pro"/>
              </a:rPr>
              <a:t>All 495 persisted trajectories reach exit_status = Submitted; five missing artifacts remain unresolved.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91440"/>
            <a:ext cx="6812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FFFFF"/>
                </a:solidFill>
                <a:latin typeface="Fujitsu Infinity Pro"/>
              </a:rPr>
              <a:t>Paper Table 7 — artifact-based TTS@8 ablation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87452"/>
            <a:ext cx="51206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183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5F6878"/>
                </a:solidFill>
                <a:latin typeface="Fujitsu Infinity Pro"/>
              </a:rPr>
              <a:t>This comparison isolates candidate count and selector design; scaffold mechanisms are not ablated.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4632" y="1115568"/>
          <a:ext cx="8174736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73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Fujitsu Infinity Pro"/>
                        </a:rPr>
                        <a:t>Variant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Fujitsu Infinity Pro"/>
                        </a:rPr>
                        <a:t>Resolved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Fujitsu Infinity Pro"/>
                        </a:rPr>
                        <a:t>Rate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Fujitsu Infinity Pro"/>
                        </a:rPr>
                        <a:t>Interpretation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033"/>
                          </a:solidFill>
                          <a:latin typeface="Fujitsu Infinity Pro"/>
                        </a:rPr>
                        <a:t>K=1, no selector (mean)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338.6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67.7%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Eight-run mean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033"/>
                          </a:solidFill>
                          <a:latin typeface="Fujitsu Infinity Pro"/>
                        </a:rPr>
                        <a:t>K=1, no selector (best)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343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68.6%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Best candidate leg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033"/>
                          </a:solidFill>
                          <a:latin typeface="Fujitsu Infinity Pro"/>
                        </a:rPr>
                        <a:t>K=8, order baseline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362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72.4%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No cross-agent ranking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033"/>
                          </a:solidFill>
                          <a:latin typeface="Fujitsu Infinity Pro"/>
                        </a:rPr>
                        <a:t>K=8, self-tests only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346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69.2%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5F6878"/>
                          </a:solidFill>
                          <a:latin typeface="Fujitsu Infinity Pro"/>
                        </a:rPr>
                        <a:t>Estimated from archived tables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033"/>
                          </a:solidFill>
                          <a:latin typeface="Fujitsu Infinity Pro"/>
                        </a:rPr>
                        <a:t>K=8, cross-agent selector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376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75.2%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Execution-grounded selected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73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033"/>
                          </a:solidFill>
                          <a:latin typeface="Fujitsu Infinity Pro"/>
                        </a:rPr>
                        <a:t>K=8, oracle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408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81.6%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0">
                          <a:solidFill>
                            <a:srgbClr val="182033"/>
                          </a:solidFill>
                          <a:latin typeface="Fujitsu Infinity Pro"/>
                        </a:rPr>
                        <a:t>Upper bound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75488" y="4480560"/>
            <a:ext cx="8193024" cy="310896"/>
          </a:xfrm>
          <a:prstGeom prst="roundRect">
            <a:avLst>
              <a:gd name="adj" fmla="val 8000"/>
            </a:avLst>
          </a:prstGeom>
          <a:solidFill>
            <a:srgbClr val="6C4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4517136"/>
            <a:ext cx="782726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FFFFFF"/>
                </a:solidFill>
                <a:latin typeface="Fujitsu Infinity Pro"/>
              </a:rPr>
              <a:t>Measured lift: +14 resolved vs. order baseline; +30 vs. self-tests-only; 32 internal wins remain to oracle.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91440"/>
            <a:ext cx="6812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FFFFFF"/>
                </a:solidFill>
                <a:latin typeface="Fujitsu Infinity Pro"/>
              </a:rPr>
              <a:t>Paper Table 8 — Python–Java cross-track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87452"/>
            <a:ext cx="51206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183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5F6878"/>
                </a:solidFill>
                <a:latin typeface="Fujitsu Infinity Pro"/>
              </a:rPr>
              <a:t>Same Qwen3.5-27B agent configuration; different corpus and evaluation harness.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8229600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93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Fujitsu Infinity Pro"/>
                        </a:rPr>
                        <a:t>Signal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Fujitsu Infinity Pro"/>
                        </a:rPr>
                        <a:t>Python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1">
                          <a:solidFill>
                            <a:srgbClr val="FFFFFF"/>
                          </a:solidFill>
                          <a:latin typeface="Fujitsu Infinity Pro"/>
                        </a:rPr>
                        <a:t>Java</a:t>
                      </a:r>
                    </a:p>
                  </a:txBody>
                  <a:tcPr marL="64008" marR="54864" marT="32004" marB="22860" anchor="ctr">
                    <a:solidFill>
                      <a:srgbClr val="18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82033"/>
                          </a:solidFill>
                          <a:latin typeface="Fujitsu Infinity Pro"/>
                        </a:rPr>
                        <a:t>Benchmark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5F6878"/>
                          </a:solidFill>
                          <a:latin typeface="Fujitsu Infinity Pro"/>
                        </a:rPr>
                        <a:t>SWE-bench Verified (n=500)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5F6878"/>
                          </a:solidFill>
                          <a:latin typeface="Fujitsu Infinity Pro"/>
                        </a:rPr>
                        <a:t>Multi-SWE-bench Java (n=128)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82033"/>
                          </a:solidFill>
                          <a:latin typeface="Fujitsu Infinity Pro"/>
                        </a:rPr>
                        <a:t>Resolved (Wilson 95% CI)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82033"/>
                          </a:solidFill>
                          <a:latin typeface="Fujitsu Infinity Pro"/>
                        </a:rPr>
                        <a:t>374/500 = 74.8% [70.82, 78.41]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82033"/>
                          </a:solidFill>
                          <a:latin typeface="Fujitsu Infinity Pro"/>
                        </a:rPr>
                        <a:t>41/128 = 32.03% [24.57, 40.54]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82033"/>
                          </a:solidFill>
                          <a:latin typeface="Fujitsu Infinity Pro"/>
                        </a:rPr>
                        <a:t>Leaderboard position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5F6878"/>
                          </a:solidFill>
                          <a:latin typeface="Fujitsu Infinity Pro"/>
                        </a:rPr>
                        <a:t>12 / 135 overall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5F6878"/>
                          </a:solidFill>
                          <a:latin typeface="Fujitsu Infinity Pro"/>
                        </a:rPr>
                        <a:t>4 / 42 overall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82033"/>
                          </a:solidFill>
                          <a:latin typeface="Fujitsu Infinity Pro"/>
                        </a:rPr>
                        <a:t>Open-weight rank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82033"/>
                          </a:solidFill>
                          <a:latin typeface="Fujitsu Infinity Pro"/>
                        </a:rPr>
                        <a:t>1st curated open-weight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82033"/>
                          </a:solidFill>
                          <a:latin typeface="Fujitsu Infinity Pro"/>
                        </a:rPr>
                        <a:t>1st strict open-weight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82033"/>
                          </a:solidFill>
                          <a:latin typeface="Fujitsu Infinity Pro"/>
                        </a:rPr>
                        <a:t>BH-FDR peer wins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82033"/>
                          </a:solidFill>
                          <a:latin typeface="Fujitsu Infinity Pro"/>
                        </a:rPr>
                        <a:t>16 / 17 open-weight peers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82033"/>
                          </a:solidFill>
                          <a:latin typeface="Fujitsu Infinity Pro"/>
                        </a:rPr>
                        <a:t>34 / 41 Java peers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82033"/>
                          </a:solidFill>
                          <a:latin typeface="Fujitsu Infinity Pro"/>
                        </a:rPr>
                        <a:t>Same-family open margin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82033"/>
                          </a:solidFill>
                          <a:latin typeface="Fujitsu Infinity Pro"/>
                        </a:rPr>
                        <a:t>+26 vs. Qwen3-Coder-480B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182033"/>
                          </a:solidFill>
                          <a:latin typeface="Fujitsu Infinity Pro"/>
                        </a:rPr>
                        <a:t>+38 vs. Qwen2.5-72B</a:t>
                      </a:r>
                    </a:p>
                  </a:txBody>
                  <a:tcPr marL="64008" marR="54864" marT="32004" marB="22860" anchor="ctr"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82033"/>
                          </a:solidFill>
                          <a:latin typeface="Fujitsu Infinity Pro"/>
                        </a:rPr>
                        <a:t>Median LLM calls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5F6878"/>
                          </a:solidFill>
                          <a:latin typeface="Fujitsu Infinity Pro"/>
                        </a:rPr>
                        <a:t>490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5F6878"/>
                          </a:solidFill>
                          <a:latin typeface="Fujitsu Infinity Pro"/>
                        </a:rPr>
                        <a:t>529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82033"/>
                          </a:solidFill>
                          <a:latin typeface="Fujitsu Infinity Pro"/>
                        </a:rPr>
                        <a:t>Applying patch output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5F6878"/>
                          </a:solidFill>
                          <a:latin typeface="Fujitsu Infinity Pro"/>
                        </a:rPr>
                        <a:t>494/495 = 99.8%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5F6878"/>
                          </a:solidFill>
                          <a:latin typeface="Fujitsu Infinity Pro"/>
                        </a:rPr>
                        <a:t>124/128 = 96.9%</a:t>
                      </a:r>
                    </a:p>
                  </a:txBody>
                  <a:tcPr marL="64008" marR="54864" marT="32004" marB="22860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393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82033"/>
                          </a:solidFill>
                          <a:latin typeface="Fujitsu Infinity Pro"/>
                        </a:rPr>
                        <a:t>Globally novel solves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5F6878"/>
                          </a:solidFill>
                          <a:latin typeface="Fujitsu Infinity Pro"/>
                        </a:rPr>
                        <a:t>1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5F6878"/>
                          </a:solidFill>
                          <a:latin typeface="Fujitsu Infinity Pro"/>
                        </a:rPr>
                        <a:t>1</a:t>
                      </a:r>
                    </a:p>
                  </a:txBody>
                  <a:tcPr marL="64008" marR="54864" marT="32004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91440"/>
            <a:ext cx="6812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Fujitsu Infinity Pro"/>
              </a:rPr>
              <a:t>Additional paper mechanism figures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42631" y="182880"/>
            <a:ext cx="658368" cy="283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15783" y="187452"/>
            <a:ext cx="51206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6007F"/>
                </a:solidFill>
                <a:latin typeface="Fujitsu Infinity Pr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183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5F6878"/>
                </a:solidFill>
                <a:latin typeface="Fujitsu Infinity Pro"/>
              </a:rPr>
              <a:t>Editable source figures are retained in the paper package; these renders are presentation-ready.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39867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" y="1078992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82033"/>
                </a:solidFill>
                <a:latin typeface="Fujitsu Infinity Pro"/>
              </a:rPr>
              <a:t>Explicit phase graph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49" y="1316736"/>
            <a:ext cx="3242310" cy="1188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18304" y="1005840"/>
            <a:ext cx="39867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37176" y="1078992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82033"/>
                </a:solidFill>
                <a:latin typeface="Fujitsu Infinity Pro"/>
              </a:rPr>
              <a:t>Planner + action normalizer</a:t>
            </a:r>
          </a:p>
        </p:txBody>
      </p:sp>
      <p:pic>
        <p:nvPicPr>
          <p:cNvPr id="11" name="Picture 10" descr="orchestra-run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370" y="1316736"/>
            <a:ext cx="3042650" cy="118871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8912" y="2770632"/>
            <a:ext cx="39867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" y="2843784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82033"/>
                </a:solidFill>
                <a:latin typeface="Fujitsu Infinity Pro"/>
              </a:rPr>
              <a:t>Cross-agent test selection</a:t>
            </a:r>
          </a:p>
        </p:txBody>
      </p:sp>
      <p:pic>
        <p:nvPicPr>
          <p:cNvPr id="14" name="Picture 13" descr="tts-cross-ag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11" y="3081527"/>
            <a:ext cx="2821185" cy="11887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718304" y="2770632"/>
            <a:ext cx="39867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37176" y="2843784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82033"/>
                </a:solidFill>
                <a:latin typeface="Fujitsu Infinity Pro"/>
              </a:rPr>
              <a:t>CI reuse pipeline</a:t>
            </a:r>
          </a:p>
        </p:txBody>
      </p:sp>
      <p:pic>
        <p:nvPicPr>
          <p:cNvPr id="17" name="Picture 16" descr="ci-pip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7610" y="3081527"/>
            <a:ext cx="2948171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1_01_JP_Red">
  <a:themeElements>
    <a:clrScheme name="FJ-PPT_2022-02">
      <a:dk1>
        <a:srgbClr val="000000"/>
      </a:dk1>
      <a:lt1>
        <a:srgbClr val="FFFFFF"/>
      </a:lt1>
      <a:dk2>
        <a:srgbClr val="D80084"/>
      </a:dk2>
      <a:lt2>
        <a:srgbClr val="2400B0"/>
      </a:lt2>
      <a:accent1>
        <a:srgbClr val="EA0000"/>
      </a:accent1>
      <a:accent2>
        <a:srgbClr val="FF8000"/>
      </a:accent2>
      <a:accent3>
        <a:srgbClr val="FFE700"/>
      </a:accent3>
      <a:accent4>
        <a:srgbClr val="61D600"/>
      </a:accent4>
      <a:accent5>
        <a:srgbClr val="008224"/>
      </a:accent5>
      <a:accent6>
        <a:srgbClr val="00E7EF"/>
      </a:accent6>
      <a:hlink>
        <a:srgbClr val="2400B0"/>
      </a:hlink>
      <a:folHlink>
        <a:srgbClr val="2400B0"/>
      </a:folHlink>
    </a:clrScheme>
    <a:fontScheme name="Fujitsu Infinity Pro">
      <a:majorFont>
        <a:latin typeface="Fujitsu Infinity Pro"/>
        <a:ea typeface="メイリオ"/>
        <a:cs typeface=""/>
      </a:majorFont>
      <a:minorFont>
        <a:latin typeface="Fujitsu Infinity Pro"/>
        <a:ea typeface="メイリオ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rgbClr val="EA0000"/>
        </a:solidFill>
        <a:ln w="12700" cap="flat" cmpd="sng" algn="ctr">
          <a:noFill/>
          <a:prstDash val="solid"/>
          <a:miter lim="800000"/>
        </a:ln>
        <a:effectLst/>
      </a:spPr>
      <a:bodyPr rtlCol="0" anchor="ctr"/>
      <a:lstStyle>
        <a:defPPr algn="ctr">
          <a:defRPr kumimoji="1" dirty="0" smtClean="0">
            <a:solidFill>
              <a:srgbClr val="FFFFFF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FJ-TC_red-1">
        <a:dk1>
          <a:srgbClr val="000000"/>
        </a:dk1>
        <a:lt1>
          <a:srgbClr val="FFFFFF"/>
        </a:lt1>
        <a:dk2>
          <a:srgbClr val="FFFFFF"/>
        </a:dk2>
        <a:lt2>
          <a:srgbClr val="EFEFEF"/>
        </a:lt2>
        <a:accent1>
          <a:srgbClr val="DF0000"/>
        </a:accent1>
        <a:accent2>
          <a:srgbClr val="DF0F2F"/>
        </a:accent2>
        <a:accent3>
          <a:srgbClr val="DF1E5C"/>
        </a:accent3>
        <a:accent4>
          <a:srgbClr val="DB0F6B"/>
        </a:accent4>
        <a:accent5>
          <a:srgbClr val="D7007A"/>
        </a:accent5>
        <a:accent6>
          <a:srgbClr val="D80084"/>
        </a:accent6>
        <a:hlink>
          <a:srgbClr val="2400B0"/>
        </a:hlink>
        <a:folHlink>
          <a:srgbClr val="2400B0"/>
        </a:folHlink>
      </a:clrScheme>
    </a:extraClrScheme>
    <a:extraClrScheme>
      <a:clrScheme name="FJ-TC_red-1+">
        <a:dk1>
          <a:srgbClr val="000000"/>
        </a:dk1>
        <a:lt1>
          <a:srgbClr val="FFFFFF"/>
        </a:lt1>
        <a:dk2>
          <a:srgbClr val="FFFFFF"/>
        </a:dk2>
        <a:lt2>
          <a:srgbClr val="EFEFEF"/>
        </a:lt2>
        <a:accent1>
          <a:srgbClr val="DF0000"/>
        </a:accent1>
        <a:accent2>
          <a:srgbClr val="DF0F2F"/>
        </a:accent2>
        <a:accent3>
          <a:srgbClr val="DF1E5C"/>
        </a:accent3>
        <a:accent4>
          <a:srgbClr val="DB0F6B"/>
        </a:accent4>
        <a:accent5>
          <a:srgbClr val="D7007A"/>
        </a:accent5>
        <a:accent6>
          <a:srgbClr val="EA0000"/>
        </a:accent6>
        <a:hlink>
          <a:srgbClr val="2400B0"/>
        </a:hlink>
        <a:folHlink>
          <a:srgbClr val="2400B0"/>
        </a:folHlink>
      </a:clrScheme>
    </a:extraClrScheme>
    <a:extraClrScheme>
      <a:clrScheme name="FJ-TC_red-2">
        <a:dk1>
          <a:srgbClr val="000000"/>
        </a:dk1>
        <a:lt1>
          <a:srgbClr val="FFFFFF"/>
        </a:lt1>
        <a:dk2>
          <a:srgbClr val="FFFFFF"/>
        </a:dk2>
        <a:lt2>
          <a:srgbClr val="EFEFEF"/>
        </a:lt2>
        <a:accent1>
          <a:srgbClr val="D7007A"/>
        </a:accent1>
        <a:accent2>
          <a:srgbClr val="DB0F6B"/>
        </a:accent2>
        <a:accent3>
          <a:srgbClr val="DF1E5C"/>
        </a:accent3>
        <a:accent4>
          <a:srgbClr val="DF0F2F"/>
        </a:accent4>
        <a:accent5>
          <a:srgbClr val="DF0000"/>
        </a:accent5>
        <a:accent6>
          <a:srgbClr val="EA0000"/>
        </a:accent6>
        <a:hlink>
          <a:srgbClr val="2400B0"/>
        </a:hlink>
        <a:folHlink>
          <a:srgbClr val="2400B0"/>
        </a:folHlink>
      </a:clrScheme>
    </a:extraClrScheme>
    <a:extraClrScheme>
      <a:clrScheme name="FJ-PPT_2022-02">
        <a:dk1>
          <a:srgbClr val="000000"/>
        </a:dk1>
        <a:lt1>
          <a:srgbClr val="FFFFFF"/>
        </a:lt1>
        <a:dk2>
          <a:srgbClr val="D80084"/>
        </a:dk2>
        <a:lt2>
          <a:srgbClr val="2400B0"/>
        </a:lt2>
        <a:accent1>
          <a:srgbClr val="EA0000"/>
        </a:accent1>
        <a:accent2>
          <a:srgbClr val="FF8000"/>
        </a:accent2>
        <a:accent3>
          <a:srgbClr val="FFE700"/>
        </a:accent3>
        <a:accent4>
          <a:srgbClr val="61D600"/>
        </a:accent4>
        <a:accent5>
          <a:srgbClr val="008224"/>
        </a:accent5>
        <a:accent6>
          <a:srgbClr val="00E7EF"/>
        </a:accent6>
        <a:hlink>
          <a:srgbClr val="2400B0"/>
        </a:hlink>
        <a:folHlink>
          <a:srgbClr val="2400B0"/>
        </a:folHlink>
      </a:clrScheme>
    </a:extraClrScheme>
  </a:extraClrSchemeLst>
  <a:extLst>
    <a:ext uri="{05A4C25C-085E-4340-85A3-A5531E510DB2}">
      <thm15:themeFamily xmlns:thm15="http://schemas.microsoft.com/office/thememl/2012/main" name="PPT-Templates_Technology.pptx" id="{D4AA4EBC-C8A0-4D74-BA15-8D0B735AB376}" vid="{754A678B-E5D7-4595-86A0-CC65E903B783}"/>
    </a:ext>
  </a:extLst>
</a:theme>
</file>

<file path=ppt/theme/theme2.xml><?xml version="1.0" encoding="utf-8"?>
<a:theme xmlns:a="http://schemas.openxmlformats.org/drawingml/2006/main" name="T1_01_JP_Plain">
  <a:themeElements>
    <a:clrScheme name="FJ-PPT_2022-02">
      <a:dk1>
        <a:srgbClr val="000000"/>
      </a:dk1>
      <a:lt1>
        <a:srgbClr val="FFFFFF"/>
      </a:lt1>
      <a:dk2>
        <a:srgbClr val="D80084"/>
      </a:dk2>
      <a:lt2>
        <a:srgbClr val="2400B0"/>
      </a:lt2>
      <a:accent1>
        <a:srgbClr val="EA0000"/>
      </a:accent1>
      <a:accent2>
        <a:srgbClr val="FF8000"/>
      </a:accent2>
      <a:accent3>
        <a:srgbClr val="FFE700"/>
      </a:accent3>
      <a:accent4>
        <a:srgbClr val="61D600"/>
      </a:accent4>
      <a:accent5>
        <a:srgbClr val="008224"/>
      </a:accent5>
      <a:accent6>
        <a:srgbClr val="00E7EF"/>
      </a:accent6>
      <a:hlink>
        <a:srgbClr val="2400B0"/>
      </a:hlink>
      <a:folHlink>
        <a:srgbClr val="2400B0"/>
      </a:folHlink>
    </a:clrScheme>
    <a:fontScheme name="Fujitsu Infinity Pro">
      <a:majorFont>
        <a:latin typeface="Fujitsu Infinity Pro"/>
        <a:ea typeface="メイリオ"/>
        <a:cs typeface=""/>
      </a:majorFont>
      <a:minorFont>
        <a:latin typeface="Fujitsu Infinity Pro"/>
        <a:ea typeface="メイリオ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rgbClr val="DCDCDC"/>
        </a:solidFill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15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 kumimoji="1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FJ-TC_Uvance">
        <a:dk1>
          <a:srgbClr val="000000"/>
        </a:dk1>
        <a:lt1>
          <a:srgbClr val="FFFFFF"/>
        </a:lt1>
        <a:dk2>
          <a:srgbClr val="FFFFFF"/>
        </a:dk2>
        <a:lt2>
          <a:srgbClr val="EFEFEF"/>
        </a:lt2>
        <a:accent1>
          <a:srgbClr val="37A21E"/>
        </a:accent1>
        <a:accent2>
          <a:srgbClr val="2D9624"/>
        </a:accent2>
        <a:accent3>
          <a:srgbClr val="238A2A"/>
        </a:accent3>
        <a:accent4>
          <a:srgbClr val="187E30"/>
        </a:accent4>
        <a:accent5>
          <a:srgbClr val="0E7236"/>
        </a:accent5>
        <a:accent6>
          <a:srgbClr val="008224"/>
        </a:accent6>
        <a:hlink>
          <a:srgbClr val="2400B0"/>
        </a:hlink>
        <a:folHlink>
          <a:srgbClr val="2400B0"/>
        </a:folHlink>
      </a:clrScheme>
    </a:extraClrScheme>
    <a:extraClrScheme>
      <a:clrScheme name="FJ-TC_Uvance-V">
        <a:dk1>
          <a:srgbClr val="000000"/>
        </a:dk1>
        <a:lt1>
          <a:srgbClr val="FFFFFF"/>
        </a:lt1>
        <a:dk2>
          <a:srgbClr val="000000"/>
        </a:dk2>
        <a:lt2>
          <a:srgbClr val="EFEFEF"/>
        </a:lt2>
        <a:accent1>
          <a:srgbClr val="12E4DA"/>
        </a:accent1>
        <a:accent2>
          <a:srgbClr val="18E3B9"/>
        </a:accent2>
        <a:accent3>
          <a:srgbClr val="1EE297"/>
        </a:accent3>
        <a:accent4>
          <a:srgbClr val="40E36D"/>
        </a:accent4>
        <a:accent5>
          <a:srgbClr val="64E342"/>
        </a:accent5>
        <a:accent6>
          <a:srgbClr val="61D600"/>
        </a:accent6>
        <a:hlink>
          <a:srgbClr val="2400B0"/>
        </a:hlink>
        <a:folHlink>
          <a:srgbClr val="2400B0"/>
        </a:folHlink>
      </a:clrScheme>
    </a:extraClrScheme>
    <a:extraClrScheme>
      <a:clrScheme name="FJ-TC_Uvance-H">
        <a:dk1>
          <a:srgbClr val="000000"/>
        </a:dk1>
        <a:lt1>
          <a:srgbClr val="FFFFFF"/>
        </a:lt1>
        <a:dk2>
          <a:srgbClr val="FFFFFF"/>
        </a:dk2>
        <a:lt2>
          <a:srgbClr val="EFEFEF"/>
        </a:lt2>
        <a:accent1>
          <a:srgbClr val="22C2E0"/>
        </a:accent1>
        <a:accent2>
          <a:srgbClr val="5C90CA"/>
        </a:accent2>
        <a:accent3>
          <a:srgbClr val="9460B5"/>
        </a:accent3>
        <a:accent4>
          <a:srgbClr val="B23BA7"/>
        </a:accent4>
        <a:accent5>
          <a:srgbClr val="D11599"/>
        </a:accent5>
        <a:accent6>
          <a:srgbClr val="D80084"/>
        </a:accent6>
        <a:hlink>
          <a:srgbClr val="2400B0"/>
        </a:hlink>
        <a:folHlink>
          <a:srgbClr val="2400B0"/>
        </a:folHlink>
      </a:clrScheme>
    </a:extraClrScheme>
    <a:extraClrScheme>
      <a:clrScheme name="FJ-TC_red-1">
        <a:dk1>
          <a:srgbClr val="000000"/>
        </a:dk1>
        <a:lt1>
          <a:srgbClr val="FFFFFF"/>
        </a:lt1>
        <a:dk2>
          <a:srgbClr val="FFFFFF"/>
        </a:dk2>
        <a:lt2>
          <a:srgbClr val="EFEFEF"/>
        </a:lt2>
        <a:accent1>
          <a:srgbClr val="DF0000"/>
        </a:accent1>
        <a:accent2>
          <a:srgbClr val="DF0F2F"/>
        </a:accent2>
        <a:accent3>
          <a:srgbClr val="DF1E5C"/>
        </a:accent3>
        <a:accent4>
          <a:srgbClr val="DB0F6B"/>
        </a:accent4>
        <a:accent5>
          <a:srgbClr val="D7007A"/>
        </a:accent5>
        <a:accent6>
          <a:srgbClr val="D80084"/>
        </a:accent6>
        <a:hlink>
          <a:srgbClr val="2400B0"/>
        </a:hlink>
        <a:folHlink>
          <a:srgbClr val="2400B0"/>
        </a:folHlink>
      </a:clrScheme>
    </a:extraClrScheme>
    <a:extraClrScheme>
      <a:clrScheme name="FJ-TC_red-1+">
        <a:dk1>
          <a:srgbClr val="000000"/>
        </a:dk1>
        <a:lt1>
          <a:srgbClr val="FFFFFF"/>
        </a:lt1>
        <a:dk2>
          <a:srgbClr val="FFFFFF"/>
        </a:dk2>
        <a:lt2>
          <a:srgbClr val="EFEFEF"/>
        </a:lt2>
        <a:accent1>
          <a:srgbClr val="DF0000"/>
        </a:accent1>
        <a:accent2>
          <a:srgbClr val="DF0F2F"/>
        </a:accent2>
        <a:accent3>
          <a:srgbClr val="DF1E5C"/>
        </a:accent3>
        <a:accent4>
          <a:srgbClr val="DB0F6B"/>
        </a:accent4>
        <a:accent5>
          <a:srgbClr val="D7007A"/>
        </a:accent5>
        <a:accent6>
          <a:srgbClr val="EA0000"/>
        </a:accent6>
        <a:hlink>
          <a:srgbClr val="2400B0"/>
        </a:hlink>
        <a:folHlink>
          <a:srgbClr val="2400B0"/>
        </a:folHlink>
      </a:clrScheme>
    </a:extraClrScheme>
    <a:extraClrScheme>
      <a:clrScheme name="FJ-TC_red-2">
        <a:dk1>
          <a:srgbClr val="000000"/>
        </a:dk1>
        <a:lt1>
          <a:srgbClr val="FFFFFF"/>
        </a:lt1>
        <a:dk2>
          <a:srgbClr val="FFFFFF"/>
        </a:dk2>
        <a:lt2>
          <a:srgbClr val="EFEFEF"/>
        </a:lt2>
        <a:accent1>
          <a:srgbClr val="D7007A"/>
        </a:accent1>
        <a:accent2>
          <a:srgbClr val="DB0F6B"/>
        </a:accent2>
        <a:accent3>
          <a:srgbClr val="DF1E5C"/>
        </a:accent3>
        <a:accent4>
          <a:srgbClr val="DF0F2F"/>
        </a:accent4>
        <a:accent5>
          <a:srgbClr val="DF0000"/>
        </a:accent5>
        <a:accent6>
          <a:srgbClr val="EA0000"/>
        </a:accent6>
        <a:hlink>
          <a:srgbClr val="2400B0"/>
        </a:hlink>
        <a:folHlink>
          <a:srgbClr val="2400B0"/>
        </a:folHlink>
      </a:clrScheme>
    </a:extraClrScheme>
    <a:extraClrScheme>
      <a:clrScheme name="FJ-TC_orange">
        <a:dk1>
          <a:srgbClr val="000000"/>
        </a:dk1>
        <a:lt1>
          <a:srgbClr val="FFFFFF"/>
        </a:lt1>
        <a:dk2>
          <a:srgbClr val="FFFFFF"/>
        </a:dk2>
        <a:lt2>
          <a:srgbClr val="EFEFEF"/>
        </a:lt2>
        <a:accent1>
          <a:srgbClr val="FB6900"/>
        </a:accent1>
        <a:accent2>
          <a:srgbClr val="F75300"/>
        </a:accent2>
        <a:accent3>
          <a:srgbClr val="F43C00"/>
        </a:accent3>
        <a:accent4>
          <a:srgbClr val="F02600"/>
        </a:accent4>
        <a:accent5>
          <a:srgbClr val="EC0F00"/>
        </a:accent5>
        <a:accent6>
          <a:srgbClr val="FF8000"/>
        </a:accent6>
        <a:hlink>
          <a:srgbClr val="2400B0"/>
        </a:hlink>
        <a:folHlink>
          <a:srgbClr val="2400B0"/>
        </a:folHlink>
      </a:clrScheme>
    </a:extraClrScheme>
    <a:extraClrScheme>
      <a:clrScheme name="FJ-TC_blue">
        <a:dk1>
          <a:srgbClr val="000000"/>
        </a:dk1>
        <a:lt1>
          <a:srgbClr val="FFFFFF"/>
        </a:lt1>
        <a:dk2>
          <a:srgbClr val="FFFFFF"/>
        </a:dk2>
        <a:lt2>
          <a:srgbClr val="EFEFEF"/>
        </a:lt2>
        <a:accent1>
          <a:srgbClr val="0C7CDA"/>
        </a:accent1>
        <a:accent2>
          <a:srgbClr val="1064CC"/>
        </a:accent2>
        <a:accent3>
          <a:srgbClr val="144CBD"/>
        </a:accent3>
        <a:accent4>
          <a:srgbClr val="1834AF"/>
        </a:accent4>
        <a:accent5>
          <a:srgbClr val="1C1CA0"/>
        </a:accent5>
        <a:accent6>
          <a:srgbClr val="2400B0"/>
        </a:accent6>
        <a:hlink>
          <a:srgbClr val="2400B0"/>
        </a:hlink>
        <a:folHlink>
          <a:srgbClr val="2400B0"/>
        </a:folHlink>
      </a:clrScheme>
    </a:extraClrScheme>
    <a:extraClrScheme>
      <a:clrScheme name="FJ-TC_green">
        <a:dk1>
          <a:srgbClr val="000000"/>
        </a:dk1>
        <a:lt1>
          <a:srgbClr val="FFFFFF"/>
        </a:lt1>
        <a:dk2>
          <a:srgbClr val="FFFFFF"/>
        </a:dk2>
        <a:lt2>
          <a:srgbClr val="EFEFEF"/>
        </a:lt2>
        <a:accent1>
          <a:srgbClr val="44B620"/>
        </a:accent1>
        <a:accent2>
          <a:srgbClr val="35A821"/>
        </a:accent2>
        <a:accent3>
          <a:srgbClr val="259922"/>
        </a:accent3>
        <a:accent4>
          <a:srgbClr val="168B23"/>
        </a:accent4>
        <a:accent5>
          <a:srgbClr val="067C24"/>
        </a:accent5>
        <a:accent6>
          <a:srgbClr val="008224"/>
        </a:accent6>
        <a:hlink>
          <a:srgbClr val="2400B0"/>
        </a:hlink>
        <a:folHlink>
          <a:srgbClr val="2400B0"/>
        </a:folHlink>
      </a:clrScheme>
    </a:extraClrScheme>
    <a:extraClrScheme>
      <a:clrScheme name="FJ-TC_yellow-1">
        <a:dk1>
          <a:srgbClr val="000000"/>
        </a:dk1>
        <a:lt1>
          <a:srgbClr val="FFFFFF"/>
        </a:lt1>
        <a:dk2>
          <a:srgbClr val="000000"/>
        </a:dk2>
        <a:lt2>
          <a:srgbClr val="EFEFEF"/>
        </a:lt2>
        <a:accent1>
          <a:srgbClr val="FF6F00"/>
        </a:accent1>
        <a:accent2>
          <a:srgbClr val="FF8A00"/>
        </a:accent2>
        <a:accent3>
          <a:srgbClr val="FFA500"/>
        </a:accent3>
        <a:accent4>
          <a:srgbClr val="FFB900"/>
        </a:accent4>
        <a:accent5>
          <a:srgbClr val="FFCD00"/>
        </a:accent5>
        <a:accent6>
          <a:srgbClr val="FFE700"/>
        </a:accent6>
        <a:hlink>
          <a:srgbClr val="2400B0"/>
        </a:hlink>
        <a:folHlink>
          <a:srgbClr val="2400B0"/>
        </a:folHlink>
      </a:clrScheme>
    </a:extraClrScheme>
    <a:extraClrScheme>
      <a:clrScheme name="FJ-TC_yellow-2">
        <a:dk1>
          <a:srgbClr val="000000"/>
        </a:dk1>
        <a:lt1>
          <a:srgbClr val="FFFFFF"/>
        </a:lt1>
        <a:dk2>
          <a:srgbClr val="000000"/>
        </a:dk2>
        <a:lt2>
          <a:srgbClr val="EFEFEF"/>
        </a:lt2>
        <a:accent1>
          <a:srgbClr val="FFCD00"/>
        </a:accent1>
        <a:accent2>
          <a:srgbClr val="FFB900"/>
        </a:accent2>
        <a:accent3>
          <a:srgbClr val="FFA500"/>
        </a:accent3>
        <a:accent4>
          <a:srgbClr val="FF8A00"/>
        </a:accent4>
        <a:accent5>
          <a:srgbClr val="FF6F00"/>
        </a:accent5>
        <a:accent6>
          <a:srgbClr val="FFE700"/>
        </a:accent6>
        <a:hlink>
          <a:srgbClr val="2400B0"/>
        </a:hlink>
        <a:folHlink>
          <a:srgbClr val="2400B0"/>
        </a:folHlink>
      </a:clrScheme>
    </a:extraClrScheme>
    <a:extraClrScheme>
      <a:clrScheme name="FJ-PPT_2022-02">
        <a:dk1>
          <a:srgbClr val="000000"/>
        </a:dk1>
        <a:lt1>
          <a:srgbClr val="FFFFFF"/>
        </a:lt1>
        <a:dk2>
          <a:srgbClr val="D80084"/>
        </a:dk2>
        <a:lt2>
          <a:srgbClr val="2400B0"/>
        </a:lt2>
        <a:accent1>
          <a:srgbClr val="EA0000"/>
        </a:accent1>
        <a:accent2>
          <a:srgbClr val="FF8000"/>
        </a:accent2>
        <a:accent3>
          <a:srgbClr val="FFE700"/>
        </a:accent3>
        <a:accent4>
          <a:srgbClr val="61D600"/>
        </a:accent4>
        <a:accent5>
          <a:srgbClr val="008224"/>
        </a:accent5>
        <a:accent6>
          <a:srgbClr val="00E7EF"/>
        </a:accent6>
        <a:hlink>
          <a:srgbClr val="2400B0"/>
        </a:hlink>
        <a:folHlink>
          <a:srgbClr val="2400B0"/>
        </a:folHlink>
      </a:clrScheme>
    </a:extraClrScheme>
  </a:extraClrSchemeLst>
  <a:extLst>
    <a:ext uri="{05A4C25C-085E-4340-85A3-A5531E510DB2}">
      <thm15:themeFamily xmlns:thm15="http://schemas.microsoft.com/office/thememl/2012/main" name="PPT-Templates_Technology.pptx" id="{D4AA4EBC-C8A0-4D74-BA15-8D0B735AB376}" vid="{FA52D22B-B5FA-416B-ACD7-F7E23C5D1627}"/>
    </a:ext>
  </a:extLst>
</a:theme>
</file>

<file path=ppt/theme/theme3.xml><?xml version="1.0" encoding="utf-8"?>
<a:theme xmlns:a="http://schemas.openxmlformats.org/drawingml/2006/main" name="Office Theme">
  <a:themeElements>
    <a:clrScheme name="ユーザー定義 3">
      <a:dk1>
        <a:srgbClr val="000000"/>
      </a:dk1>
      <a:lt1>
        <a:srgbClr val="FFFFFF"/>
      </a:lt1>
      <a:dk2>
        <a:srgbClr val="D80084"/>
      </a:dk2>
      <a:lt2>
        <a:srgbClr val="2400B0"/>
      </a:lt2>
      <a:accent1>
        <a:srgbClr val="EA0000"/>
      </a:accent1>
      <a:accent2>
        <a:srgbClr val="FF8000"/>
      </a:accent2>
      <a:accent3>
        <a:srgbClr val="FFE700"/>
      </a:accent3>
      <a:accent4>
        <a:srgbClr val="61D600"/>
      </a:accent4>
      <a:accent5>
        <a:srgbClr val="008224"/>
      </a:accent5>
      <a:accent6>
        <a:srgbClr val="00E7EF"/>
      </a:accent6>
      <a:hlink>
        <a:srgbClr val="2400B0"/>
      </a:hlink>
      <a:folHlink>
        <a:srgbClr val="2400B0"/>
      </a:folHlink>
    </a:clrScheme>
    <a:fontScheme name="メイリオ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ユーザー定義 3">
      <a:dk1>
        <a:srgbClr val="000000"/>
      </a:dk1>
      <a:lt1>
        <a:srgbClr val="FFFFFF"/>
      </a:lt1>
      <a:dk2>
        <a:srgbClr val="D80084"/>
      </a:dk2>
      <a:lt2>
        <a:srgbClr val="2400B0"/>
      </a:lt2>
      <a:accent1>
        <a:srgbClr val="EA0000"/>
      </a:accent1>
      <a:accent2>
        <a:srgbClr val="FF8000"/>
      </a:accent2>
      <a:accent3>
        <a:srgbClr val="FFE700"/>
      </a:accent3>
      <a:accent4>
        <a:srgbClr val="61D600"/>
      </a:accent4>
      <a:accent5>
        <a:srgbClr val="008224"/>
      </a:accent5>
      <a:accent6>
        <a:srgbClr val="00E7EF"/>
      </a:accent6>
      <a:hlink>
        <a:srgbClr val="2400B0"/>
      </a:hlink>
      <a:folHlink>
        <a:srgbClr val="2400B0"/>
      </a:folHlink>
    </a:clrScheme>
    <a:fontScheme name="メイリオ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9486EAAC4EBA45846D89AB9A8B0AEA" ma:contentTypeVersion="13" ma:contentTypeDescription="Create a new document." ma:contentTypeScope="" ma:versionID="117be20db2e611314519d63f3c1f8162">
  <xsd:schema xmlns:xsd="http://www.w3.org/2001/XMLSchema" xmlns:xs="http://www.w3.org/2001/XMLSchema" xmlns:p="http://schemas.microsoft.com/office/2006/metadata/properties" xmlns:ns2="5df4f382-5220-491e-826b-b9b201a7cbdf" xmlns:ns3="7098fe07-fd5b-418c-bb62-43d1680e4c5d" targetNamespace="http://schemas.microsoft.com/office/2006/metadata/properties" ma:root="true" ma:fieldsID="739e93370f629e811484fbdb0dd3bf03" ns2:_="" ns3:_="">
    <xsd:import namespace="5df4f382-5220-491e-826b-b9b201a7cbdf"/>
    <xsd:import namespace="7098fe07-fd5b-418c-bb62-43d1680e4c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f4f382-5220-491e-826b-b9b201a7cb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c4fd492-276b-4614-b3af-3a4c63b563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98fe07-fd5b-418c-bb62-43d1680e4c5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c151aaa-e4b7-4571-ab0f-33ae778a4d01}" ma:internalName="TaxCatchAll" ma:showField="CatchAllData" ma:web="7098fe07-fd5b-418c-bb62-43d1680e4c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98fe07-fd5b-418c-bb62-43d1680e4c5d" xsi:nil="true"/>
    <lcf76f155ced4ddcb4097134ff3c332f xmlns="5df4f382-5220-491e-826b-b9b201a7cbd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F9F44B1-30A1-4707-9659-EA38BB0980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48DB81A-A364-49D7-B52E-157F15FAE8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f4f382-5220-491e-826b-b9b201a7cbdf"/>
    <ds:schemaRef ds:uri="7098fe07-fd5b-418c-bb62-43d1680e4c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E332EB-80DE-4C97-8C58-7E62BD03C7F3}">
  <ds:schemaRefs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7098fe07-fd5b-418c-bb62-43d1680e4c5d"/>
    <ds:schemaRef ds:uri="http://schemas.microsoft.com/office/infopath/2007/PartnerControls"/>
    <ds:schemaRef ds:uri="5df4f382-5220-491e-826b-b9b201a7cbdf"/>
  </ds:schemaRefs>
</ds:datastoreItem>
</file>

<file path=docMetadata/LabelInfo.xml><?xml version="1.0" encoding="utf-8"?>
<clbl:labelList xmlns:clbl="http://schemas.microsoft.com/office/2020/mipLabelMetadata">
  <clbl:label id="{1e92ef73-0ad1-40c5-ad55-46de3396802f}" enabled="1" method="Privileged" siteId="{a19f121d-81e1-4858-a9d8-736e267fd4c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3119</Words>
  <Application>Microsoft Macintosh PowerPoint</Application>
  <PresentationFormat>On-screen Show (16:9)</PresentationFormat>
  <Paragraphs>661</Paragraphs>
  <Slides>45</Slides>
  <Notes>30</Notes>
  <HiddenSlides>22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メイリオ</vt:lpstr>
      <vt:lpstr>Fujitsu Infinity Pro</vt:lpstr>
      <vt:lpstr>Aptos Mono</vt:lpstr>
      <vt:lpstr>T1_01_JP_Red</vt:lpstr>
      <vt:lpstr>T1_01_JP_Plain</vt:lpstr>
      <vt:lpstr>PowerPoint Presentation</vt:lpstr>
      <vt:lpstr>Overview</vt:lpstr>
      <vt:lpstr>PowerPoint Presentation</vt:lpstr>
      <vt:lpstr>What the Agent Must Implement</vt:lpstr>
      <vt:lpstr>Actual Regression Tests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Kozuchi Agent — ASE 2026 Conference Presentation</dc:title>
  <dc:subject>12-minute technical talk with paper tables, figures, algorithms, and backup slides</dc:subject>
  <dc:creator>Mehdi Bahrami et al., Fujitsu Research</dc:creator>
  <dc:description>Generated from paper/main.pdf and grounded with the accepted-paper artifacts.</dc:description>
  <cp:lastModifiedBy/>
  <cp:revision>1</cp:revision>
  <dcterms:created xsi:type="dcterms:W3CDTF">2026-02-19T07:41:50Z</dcterms:created>
  <dcterms:modified xsi:type="dcterms:W3CDTF">2026-10-14T07:34:38Z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0x010100489486EAAC4EBA45846D89AB9A8B0AEA</vt:lpwstr>
  </property>
  <property fmtid="{D5CDD505-2E9C-101B-9397-08002B2CF9AE}" pid="3" name="MediaServiceImageTags">
    <vt:lpwstr/>
  </property>
</Properties>
</file>